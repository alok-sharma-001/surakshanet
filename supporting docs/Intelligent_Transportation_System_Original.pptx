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3F8CB0-09AB-46A9-B088-1BFD48FF70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8B549BC-1237-4772-A951-59A7F39A58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19F37A-2060-49F9-9ABF-F0DFE1A518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DAE75B6-B7D2-47C2-B94A-81D127ECB1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9A7BF46-C8C8-495B-BEB3-A98843D0F3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B1A89EC-7F7B-4615-A6C3-4F7084943A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B68B8A8-B0AB-4932-959C-B7DB1849FF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40B31AD-4BD8-4A55-8F3C-C71EB69814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D9C64DF-64CF-47DA-B32B-F3E4BB61CF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244837E-7A9F-4D5B-991C-DC722E10B2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A0DE30-0735-4EB1-A8E4-2637F73936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261AD86-5904-454B-A98C-0275EF9D14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4C635D-D586-419A-B624-6E72AFBE7F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vert="eaVert">
            <a:no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93F511F-B2B7-4931-81D5-5DA80E8714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2D0653A-F4E2-4B2D-9DCE-25260E2A85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540720"/>
            <a:ext cx="10972080" cy="6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90A4FF-F037-45E9-B21D-1ACD9F1DAA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AD7ADCA-C104-44BF-8FB7-139113A9EF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2189FD-ABC5-41C4-A5F5-F86A5A96D4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21BFD1-85F7-4D1A-9DDD-D0E626EAB9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1"/>
          <p:cNvSpPr/>
          <p:nvPr/>
        </p:nvSpPr>
        <p:spPr>
          <a:xfrm>
            <a:off x="8691840" y="-799920"/>
            <a:ext cx="4499280" cy="4499280"/>
          </a:xfrm>
          <a:prstGeom prst="ellipse">
            <a:avLst/>
          </a:prstGeom>
          <a:solidFill>
            <a:srgbClr val="EEF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ounded Rectangle 2"/>
          <p:cNvSpPr/>
          <p:nvPr/>
        </p:nvSpPr>
        <p:spPr>
          <a:xfrm>
            <a:off x="600120" y="550080"/>
            <a:ext cx="5499360" cy="33912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749880" y="590040"/>
            <a:ext cx="416700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SMART CITY INNOVATION  |  INNOVIK6.0 HACKATHON PRESENTATION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600120" y="1050120"/>
            <a:ext cx="1099944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Intelligent Transportation &amp;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Traffic Optimization System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600120" y="2350080"/>
            <a:ext cx="10499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An AI-Driven Smart Traffic Management Platform for Safer, Greener &amp; Congestion-Free Cities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6"/>
          <p:cNvSpPr/>
          <p:nvPr/>
        </p:nvSpPr>
        <p:spPr>
          <a:xfrm>
            <a:off x="600120" y="2900160"/>
            <a:ext cx="10999440" cy="17280"/>
          </a:xfrm>
          <a:prstGeom prst="rect">
            <a:avLst/>
          </a:prstGeom>
          <a:solidFill>
            <a:srgbClr val="E2E8F0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27000" rIns="90000" bIns="-27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600120" y="3099960"/>
            <a:ext cx="19105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PROJECT TEAM &amp; INSTITUTION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600120" y="3499920"/>
            <a:ext cx="2599200" cy="139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9"/>
          <p:cNvSpPr/>
          <p:nvPr/>
        </p:nvSpPr>
        <p:spPr>
          <a:xfrm>
            <a:off x="600120" y="349992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Oval 10"/>
          <p:cNvSpPr/>
          <p:nvPr/>
        </p:nvSpPr>
        <p:spPr>
          <a:xfrm>
            <a:off x="799920" y="3679920"/>
            <a:ext cx="379440" cy="379440"/>
          </a:xfrm>
          <a:prstGeom prst="ellipse">
            <a:avLst/>
          </a:prstGeom>
          <a:solidFill>
            <a:srgbClr val="EEF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927360" y="3719880"/>
            <a:ext cx="1242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A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2"/>
          <p:cNvSpPr/>
          <p:nvPr/>
        </p:nvSpPr>
        <p:spPr>
          <a:xfrm>
            <a:off x="799920" y="4119840"/>
            <a:ext cx="2199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Alok Sharma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3"/>
          <p:cNvSpPr/>
          <p:nvPr/>
        </p:nvSpPr>
        <p:spPr>
          <a:xfrm>
            <a:off x="3399840" y="3499920"/>
            <a:ext cx="2599200" cy="139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14"/>
          <p:cNvSpPr/>
          <p:nvPr/>
        </p:nvSpPr>
        <p:spPr>
          <a:xfrm>
            <a:off x="3399840" y="349992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Oval 15"/>
          <p:cNvSpPr/>
          <p:nvPr/>
        </p:nvSpPr>
        <p:spPr>
          <a:xfrm>
            <a:off x="3600000" y="3679920"/>
            <a:ext cx="379440" cy="379440"/>
          </a:xfrm>
          <a:prstGeom prst="ellipse">
            <a:avLst/>
          </a:prstGeom>
          <a:solidFill>
            <a:srgbClr val="EEF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6"/>
          <p:cNvSpPr/>
          <p:nvPr/>
        </p:nvSpPr>
        <p:spPr>
          <a:xfrm>
            <a:off x="3720960" y="3719880"/>
            <a:ext cx="1371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H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7"/>
          <p:cNvSpPr/>
          <p:nvPr/>
        </p:nvSpPr>
        <p:spPr>
          <a:xfrm>
            <a:off x="3600000" y="4119840"/>
            <a:ext cx="2199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Himanshu Patel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8"/>
          <p:cNvSpPr/>
          <p:nvPr/>
        </p:nvSpPr>
        <p:spPr>
          <a:xfrm>
            <a:off x="6199920" y="3499920"/>
            <a:ext cx="2599200" cy="139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19"/>
          <p:cNvSpPr/>
          <p:nvPr/>
        </p:nvSpPr>
        <p:spPr>
          <a:xfrm>
            <a:off x="6199920" y="349992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Oval 20"/>
          <p:cNvSpPr/>
          <p:nvPr/>
        </p:nvSpPr>
        <p:spPr>
          <a:xfrm>
            <a:off x="6400080" y="3679920"/>
            <a:ext cx="379440" cy="379440"/>
          </a:xfrm>
          <a:prstGeom prst="ellipse">
            <a:avLst/>
          </a:prstGeom>
          <a:solidFill>
            <a:srgbClr val="EEF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1"/>
          <p:cNvSpPr/>
          <p:nvPr/>
        </p:nvSpPr>
        <p:spPr>
          <a:xfrm>
            <a:off x="6523920" y="3719880"/>
            <a:ext cx="1317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2"/>
          <p:cNvSpPr/>
          <p:nvPr/>
        </p:nvSpPr>
        <p:spPr>
          <a:xfrm>
            <a:off x="6400080" y="4119840"/>
            <a:ext cx="2199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Dhanushka Pal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23"/>
          <p:cNvSpPr/>
          <p:nvPr/>
        </p:nvSpPr>
        <p:spPr>
          <a:xfrm>
            <a:off x="9000000" y="3499920"/>
            <a:ext cx="2599200" cy="139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24"/>
          <p:cNvSpPr/>
          <p:nvPr/>
        </p:nvSpPr>
        <p:spPr>
          <a:xfrm>
            <a:off x="9000000" y="349992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Oval 25"/>
          <p:cNvSpPr/>
          <p:nvPr/>
        </p:nvSpPr>
        <p:spPr>
          <a:xfrm>
            <a:off x="9200160" y="3679920"/>
            <a:ext cx="379440" cy="379440"/>
          </a:xfrm>
          <a:prstGeom prst="ellipse">
            <a:avLst/>
          </a:prstGeom>
          <a:solidFill>
            <a:srgbClr val="EEF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6"/>
          <p:cNvSpPr/>
          <p:nvPr/>
        </p:nvSpPr>
        <p:spPr>
          <a:xfrm>
            <a:off x="9340200" y="3719880"/>
            <a:ext cx="990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7"/>
          <p:cNvSpPr/>
          <p:nvPr/>
        </p:nvSpPr>
        <p:spPr>
          <a:xfrm>
            <a:off x="9200160" y="4119840"/>
            <a:ext cx="2199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Sunaina Pal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28"/>
          <p:cNvSpPr/>
          <p:nvPr/>
        </p:nvSpPr>
        <p:spPr>
          <a:xfrm>
            <a:off x="600120" y="5150160"/>
            <a:ext cx="10999440" cy="79920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BFDB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9"/>
          <p:cNvSpPr/>
          <p:nvPr/>
        </p:nvSpPr>
        <p:spPr>
          <a:xfrm>
            <a:off x="844920" y="5258880"/>
            <a:ext cx="5832720" cy="64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Institution: Vikrant University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2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Department of Computer Science &amp; Engineering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2518920" y="3052800"/>
            <a:ext cx="256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55308D"/>
                </a:solidFill>
                <a:effectLst/>
                <a:uFillTx/>
                <a:latin typeface="Calibri"/>
              </a:rPr>
              <a:t>Tech Geeks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HACKATHON CHALLENGE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Selected Problem Statement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AI-Driven Intelligent Transportation and Smart Traffic Management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4"/>
          <p:cNvSpPr/>
          <p:nvPr/>
        </p:nvSpPr>
        <p:spPr>
          <a:xfrm>
            <a:off x="600120" y="1550160"/>
            <a:ext cx="3599280" cy="179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5"/>
          <p:cNvSpPr/>
          <p:nvPr/>
        </p:nvSpPr>
        <p:spPr>
          <a:xfrm>
            <a:off x="600120" y="1550160"/>
            <a:ext cx="359928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799920" y="1699920"/>
            <a:ext cx="3199320" cy="142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CATEGORY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Software &amp; Web Engineering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Artificial Intelligence / ML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Internet of Things (IoT)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Cloud &amp; Distributed Computing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Real-Time Data Analytics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7"/>
          <p:cNvSpPr/>
          <p:nvPr/>
        </p:nvSpPr>
        <p:spPr>
          <a:xfrm>
            <a:off x="600120" y="3549960"/>
            <a:ext cx="3599280" cy="23994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600">
            <a:solidFill>
              <a:srgbClr val="A7F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8"/>
          <p:cNvSpPr/>
          <p:nvPr/>
        </p:nvSpPr>
        <p:spPr>
          <a:xfrm>
            <a:off x="600120" y="3549960"/>
            <a:ext cx="359928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799920" y="3700080"/>
            <a:ext cx="3199320" cy="11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THEME &amp; FOCUS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AI-Driven Intelligent Transportation &amp; Smart Traffic Management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Targeting high-density urban corridors with real-time adaptive signal control and predictive commuter routing.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0"/>
          <p:cNvSpPr/>
          <p:nvPr/>
        </p:nvSpPr>
        <p:spPr>
          <a:xfrm>
            <a:off x="4449960" y="1550160"/>
            <a:ext cx="7149240" cy="439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11"/>
          <p:cNvSpPr/>
          <p:nvPr/>
        </p:nvSpPr>
        <p:spPr>
          <a:xfrm>
            <a:off x="4449960" y="1550160"/>
            <a:ext cx="7149240" cy="4428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4749840" y="1749960"/>
            <a:ext cx="6549120" cy="279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EXECUTIVE SUMMARY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The Intelligent Transportation &amp; Traffic Optimization System is a smart solution designed to improve traffic flow and enhance road safety.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It uses AI, IoT sensors, GPS data, and real-time traffic analytics to monitor road conditions and optimize traffic signal timings.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The system detects congestion, predicts traffic patterns, and suggests alternative routes to commuters. Cloud technology enables centralized data management and real-time access for traffic authorities.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5000"/>
              </a:lnSpc>
              <a:spcBef>
                <a:spcPts val="1001"/>
              </a:spcBef>
            </a:pPr>
            <a:r>
              <a:rPr lang="en-US" sz="13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Overall, the platform reduces travel time, minimizes fuel consumption, and supports the development of smart and sustainable cities.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URBAN MOBILITY CRISIS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Problem Identification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India's cities are losing immense time, economic productivity, and lives to chronic traffic congestion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600120" y="1550160"/>
            <a:ext cx="345924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5"/>
          <p:cNvSpPr/>
          <p:nvPr/>
        </p:nvSpPr>
        <p:spPr>
          <a:xfrm>
            <a:off x="600120" y="1550160"/>
            <a:ext cx="3459240" cy="442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799920" y="1710000"/>
            <a:ext cx="305928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168 hrs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Lost per commuter annually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in Bengaluru — 2nd most congested city in the world (TomTom 2025)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7"/>
          <p:cNvSpPr/>
          <p:nvPr/>
        </p:nvSpPr>
        <p:spPr>
          <a:xfrm>
            <a:off x="4359960" y="1550160"/>
            <a:ext cx="345924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8"/>
          <p:cNvSpPr/>
          <p:nvPr/>
        </p:nvSpPr>
        <p:spPr>
          <a:xfrm>
            <a:off x="4359960" y="1550160"/>
            <a:ext cx="345924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4560120" y="1710000"/>
            <a:ext cx="305928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$22 B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Annual congestion cost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estimated economic loss across India's top 4 metros (Uber-BCG study)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10"/>
          <p:cNvSpPr/>
          <p:nvPr/>
        </p:nvSpPr>
        <p:spPr>
          <a:xfrm>
            <a:off x="8120160" y="1550160"/>
            <a:ext cx="345924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11"/>
          <p:cNvSpPr/>
          <p:nvPr/>
        </p:nvSpPr>
        <p:spPr>
          <a:xfrm>
            <a:off x="8120160" y="1550160"/>
            <a:ext cx="345924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2"/>
          <p:cNvSpPr/>
          <p:nvPr/>
        </p:nvSpPr>
        <p:spPr>
          <a:xfrm>
            <a:off x="8319960" y="1710000"/>
            <a:ext cx="3059280" cy="10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6 of 10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Most congested Asian cities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are in India: Bengaluru (#1), Pune (#2), Mumbai (#6), Delhi (#7), Kolkata (#9), Jaipur (#10)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13"/>
          <p:cNvSpPr/>
          <p:nvPr/>
        </p:nvSpPr>
        <p:spPr>
          <a:xfrm>
            <a:off x="600120" y="3650040"/>
            <a:ext cx="10999440" cy="229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14"/>
          <p:cNvSpPr/>
          <p:nvPr/>
        </p:nvSpPr>
        <p:spPr>
          <a:xfrm>
            <a:off x="600120" y="3650040"/>
            <a:ext cx="10999440" cy="4428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5"/>
          <p:cNvSpPr/>
          <p:nvPr/>
        </p:nvSpPr>
        <p:spPr>
          <a:xfrm>
            <a:off x="849960" y="3800160"/>
            <a:ext cx="10499400" cy="11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CORE SYSTEMIC CHALLENGES IN INDIAN CITIES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Static Signal Timings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Traffic lights run on fixed pre-programmed timers irrespective of real-time queue lengths or asymmetrical lane demands.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Fragmented Data Silos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Traffic police lack unified visibility into multi-junction corridors, causing manual manual bottleneck escalations.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Lagged Commuter Rerouting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Navigation apps only route around congestion after jams form, exacerbating side-street gridlocks.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High Fuel Wastage &amp; Emissions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Repeated idle-stop-and-go cycles drastically worsen PM2.5 emissions and vehicle operating costs.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SYSTEM ARCHITECTURE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Proposed Solution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 unified, closed-loop AI platform that senses, predicts, acts, and governs city traffic in real time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4"/>
          <p:cNvSpPr/>
          <p:nvPr/>
        </p:nvSpPr>
        <p:spPr>
          <a:xfrm>
            <a:off x="600120" y="1550160"/>
            <a:ext cx="2599200" cy="359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5"/>
          <p:cNvSpPr/>
          <p:nvPr/>
        </p:nvSpPr>
        <p:spPr>
          <a:xfrm>
            <a:off x="600120" y="1550160"/>
            <a:ext cx="259920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ounded Rectangle 6"/>
          <p:cNvSpPr/>
          <p:nvPr/>
        </p:nvSpPr>
        <p:spPr>
          <a:xfrm>
            <a:off x="780120" y="1730160"/>
            <a:ext cx="749160" cy="31932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1073880" y="1760040"/>
            <a:ext cx="1612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01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780120" y="2149920"/>
            <a:ext cx="2239200" cy="17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SENSE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Edge Vision &amp; IoT Sensing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Live video streams from roadside cameras processed by YOLOv8; IoT induction &amp; acoustic sensors capture real-time vehicle density and queue length over MQTT protocol.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9"/>
          <p:cNvSpPr/>
          <p:nvPr/>
        </p:nvSpPr>
        <p:spPr>
          <a:xfrm>
            <a:off x="3399840" y="1550160"/>
            <a:ext cx="2599200" cy="359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10"/>
          <p:cNvSpPr/>
          <p:nvPr/>
        </p:nvSpPr>
        <p:spPr>
          <a:xfrm>
            <a:off x="3399840" y="1550160"/>
            <a:ext cx="259920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ounded Rectangle 11"/>
          <p:cNvSpPr/>
          <p:nvPr/>
        </p:nvSpPr>
        <p:spPr>
          <a:xfrm>
            <a:off x="3579840" y="1730160"/>
            <a:ext cx="749160" cy="31932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600">
            <a:solidFill>
              <a:srgbClr val="0D948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2"/>
          <p:cNvSpPr/>
          <p:nvPr/>
        </p:nvSpPr>
        <p:spPr>
          <a:xfrm>
            <a:off x="3873600" y="1760040"/>
            <a:ext cx="1612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02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3"/>
          <p:cNvSpPr/>
          <p:nvPr/>
        </p:nvSpPr>
        <p:spPr>
          <a:xfrm>
            <a:off x="3579840" y="2149920"/>
            <a:ext cx="2239200" cy="153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PREDICT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Predictive Traffic AI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Deep learning time-series models (LSTM + XGBoost) forecast congestion patterns 15–60 minutes in advance, detecting potential gridlocks before they form.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4"/>
          <p:cNvSpPr/>
          <p:nvPr/>
        </p:nvSpPr>
        <p:spPr>
          <a:xfrm>
            <a:off x="6199920" y="1550160"/>
            <a:ext cx="2599200" cy="359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15"/>
          <p:cNvSpPr/>
          <p:nvPr/>
        </p:nvSpPr>
        <p:spPr>
          <a:xfrm>
            <a:off x="6199920" y="1550160"/>
            <a:ext cx="2599200" cy="5436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ounded Rectangle 16"/>
          <p:cNvSpPr/>
          <p:nvPr/>
        </p:nvSpPr>
        <p:spPr>
          <a:xfrm>
            <a:off x="6379920" y="1730160"/>
            <a:ext cx="749160" cy="31932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600">
            <a:solidFill>
              <a:srgbClr val="D9770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7"/>
          <p:cNvSpPr/>
          <p:nvPr/>
        </p:nvSpPr>
        <p:spPr>
          <a:xfrm>
            <a:off x="6673680" y="1760040"/>
            <a:ext cx="1612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03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8"/>
          <p:cNvSpPr/>
          <p:nvPr/>
        </p:nvSpPr>
        <p:spPr>
          <a:xfrm>
            <a:off x="6379920" y="2149920"/>
            <a:ext cx="2239200" cy="17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ACT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Dynamic Signal &amp; Rerouting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Reinforcement learning algorithms adapt green-light durations dynamically; routing engine pushes pre-emptive rerouting alerts to mobile commuters.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19"/>
          <p:cNvSpPr/>
          <p:nvPr/>
        </p:nvSpPr>
        <p:spPr>
          <a:xfrm>
            <a:off x="9000000" y="1550160"/>
            <a:ext cx="2599200" cy="359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20"/>
          <p:cNvSpPr/>
          <p:nvPr/>
        </p:nvSpPr>
        <p:spPr>
          <a:xfrm>
            <a:off x="9000000" y="1550160"/>
            <a:ext cx="2599200" cy="5436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ounded Rectangle 21"/>
          <p:cNvSpPr/>
          <p:nvPr/>
        </p:nvSpPr>
        <p:spPr>
          <a:xfrm>
            <a:off x="9180000" y="1730160"/>
            <a:ext cx="749160" cy="319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600">
            <a:solidFill>
              <a:srgbClr val="1E3A8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2"/>
          <p:cNvSpPr/>
          <p:nvPr/>
        </p:nvSpPr>
        <p:spPr>
          <a:xfrm>
            <a:off x="9473760" y="1760040"/>
            <a:ext cx="1612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04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3"/>
          <p:cNvSpPr/>
          <p:nvPr/>
        </p:nvSpPr>
        <p:spPr>
          <a:xfrm>
            <a:off x="9180000" y="2149920"/>
            <a:ext cx="2239200" cy="17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GOVERN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Central Command &amp; Control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Unified cloud-based dashboard gives municipal traffic police real-time situational awareness, corridor overrides, and automated anomaly alerts.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24"/>
          <p:cNvSpPr/>
          <p:nvPr/>
        </p:nvSpPr>
        <p:spPr>
          <a:xfrm>
            <a:off x="600120" y="5349960"/>
            <a:ext cx="10999440" cy="59940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5"/>
          <p:cNvSpPr/>
          <p:nvPr/>
        </p:nvSpPr>
        <p:spPr>
          <a:xfrm>
            <a:off x="799920" y="5450040"/>
            <a:ext cx="8915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⚡ Closed-Loop Feedback: </a:t>
            </a:r>
            <a:r>
              <a:rPr lang="en-US" sz="11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Continuous telemetry loop synchronizes signal timings with commuter rerouting for maximum throughput.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KEY DIFFERENTIATORS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Innovation Component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What makes our solution novel, defensible, and uniquely effective for emerging smart cities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4"/>
          <p:cNvSpPr/>
          <p:nvPr/>
        </p:nvSpPr>
        <p:spPr>
          <a:xfrm>
            <a:off x="600120" y="1550160"/>
            <a:ext cx="5349240" cy="199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5"/>
          <p:cNvSpPr/>
          <p:nvPr/>
        </p:nvSpPr>
        <p:spPr>
          <a:xfrm>
            <a:off x="600120" y="1550160"/>
            <a:ext cx="54360" cy="199944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799920" y="1730160"/>
            <a:ext cx="499932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DUAL-ACTION OPTIMIZATION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Unifying Authority &amp; Commuter Loops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While existing solutions only redirect drivers (Google Maps) or manage isolated signals, our platform optimizes signals AND routes commuters synchronously in one cohesive ecosystem.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7"/>
          <p:cNvSpPr/>
          <p:nvPr/>
        </p:nvSpPr>
        <p:spPr>
          <a:xfrm>
            <a:off x="6249960" y="1550160"/>
            <a:ext cx="5349240" cy="199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8"/>
          <p:cNvSpPr/>
          <p:nvPr/>
        </p:nvSpPr>
        <p:spPr>
          <a:xfrm>
            <a:off x="6249960" y="1550160"/>
            <a:ext cx="54360" cy="199944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6450120" y="1730160"/>
            <a:ext cx="499932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INDIAN ROAD CONDITION ADAPTATION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Heterogeneous Non-Lane Traffic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Trained computer vision models tailored specifically for non-standardized lane behaviors, mixed vehicle modalities (auto-rickshaws, 2-wheelers, buses), and high density.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0"/>
          <p:cNvSpPr/>
          <p:nvPr/>
        </p:nvSpPr>
        <p:spPr>
          <a:xfrm>
            <a:off x="600120" y="3750120"/>
            <a:ext cx="5349240" cy="199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ectangle 11"/>
          <p:cNvSpPr/>
          <p:nvPr/>
        </p:nvSpPr>
        <p:spPr>
          <a:xfrm>
            <a:off x="600120" y="3750120"/>
            <a:ext cx="54360" cy="199944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12"/>
          <p:cNvSpPr/>
          <p:nvPr/>
        </p:nvSpPr>
        <p:spPr>
          <a:xfrm>
            <a:off x="799920" y="3930120"/>
            <a:ext cx="499932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PRE-EMPTIVE FORECASTING (15-60 MIN)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LSTM + XGBoost Hybrid Models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Instead of reacting after bottlenecks occur, time-series forecasting predicts corridor load spikes 15–60 minutes ahead, dynamically re-allocating green times proactively.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3"/>
          <p:cNvSpPr/>
          <p:nvPr/>
        </p:nvSpPr>
        <p:spPr>
          <a:xfrm>
            <a:off x="6249960" y="3750120"/>
            <a:ext cx="5349240" cy="1999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14"/>
          <p:cNvSpPr/>
          <p:nvPr/>
        </p:nvSpPr>
        <p:spPr>
          <a:xfrm>
            <a:off x="6249960" y="3750120"/>
            <a:ext cx="54360" cy="199944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5"/>
          <p:cNvSpPr/>
          <p:nvPr/>
        </p:nvSpPr>
        <p:spPr>
          <a:xfrm>
            <a:off x="6450120" y="3930120"/>
            <a:ext cx="499932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EDGE-TO-CLOUD DISTRIBUTED AI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Low Latency &amp; Scalability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Edge compute (NVIDIA Jetson / Raspberry Pi) handles heavy real-time camera inference locally, streaming lightweight MQTT metadata to scalable cloud microservices.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6"/>
          <p:cNvSpPr/>
          <p:nvPr/>
        </p:nvSpPr>
        <p:spPr>
          <a:xfrm>
            <a:off x="600120" y="5749920"/>
            <a:ext cx="10999440" cy="44928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600">
            <a:solidFill>
              <a:srgbClr val="A7F3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7"/>
          <p:cNvSpPr/>
          <p:nvPr/>
        </p:nvSpPr>
        <p:spPr>
          <a:xfrm>
            <a:off x="799920" y="5799960"/>
            <a:ext cx="97671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🎯 Hackathon Execution Strategy: </a:t>
            </a:r>
            <a:r>
              <a:rPr lang="en-US" sz="105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Delivering deep end-to-end integration on Kaggle traffic data and real-time simulator rather than surface-level mockups.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ARCHITECTURE &amp; TOOLS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Technology Stack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Robust multi-tier tech stack engineered for rapid prototype development and scalable city deployment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4"/>
          <p:cNvSpPr/>
          <p:nvPr/>
        </p:nvSpPr>
        <p:spPr>
          <a:xfrm>
            <a:off x="60012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5"/>
          <p:cNvSpPr/>
          <p:nvPr/>
        </p:nvSpPr>
        <p:spPr>
          <a:xfrm>
            <a:off x="600120" y="155016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759960" y="1710000"/>
            <a:ext cx="2279160" cy="67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IoT &amp; Edge Layer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Cameras, ANPR, Raspberry Pi / Jetson Nano, MQTT, GPS Probes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7"/>
          <p:cNvSpPr/>
          <p:nvPr/>
        </p:nvSpPr>
        <p:spPr>
          <a:xfrm>
            <a:off x="339984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8"/>
          <p:cNvSpPr/>
          <p:nvPr/>
        </p:nvSpPr>
        <p:spPr>
          <a:xfrm>
            <a:off x="3399840" y="1550160"/>
            <a:ext cx="259920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3560040" y="1710000"/>
            <a:ext cx="2279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Data Streaming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Apache Kafka, AWS Kinesis, RabbitMQ for real-time high-throughput ingestion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10"/>
          <p:cNvSpPr/>
          <p:nvPr/>
        </p:nvSpPr>
        <p:spPr>
          <a:xfrm>
            <a:off x="619992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11"/>
          <p:cNvSpPr/>
          <p:nvPr/>
        </p:nvSpPr>
        <p:spPr>
          <a:xfrm>
            <a:off x="6199920" y="1550160"/>
            <a:ext cx="2599200" cy="4428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2"/>
          <p:cNvSpPr/>
          <p:nvPr/>
        </p:nvSpPr>
        <p:spPr>
          <a:xfrm>
            <a:off x="6360120" y="1710000"/>
            <a:ext cx="2279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Backend Services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Python (FastAPI), Node.js Microservices, Docker, Kubernetes containerization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13"/>
          <p:cNvSpPr/>
          <p:nvPr/>
        </p:nvSpPr>
        <p:spPr>
          <a:xfrm>
            <a:off x="900000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ectangle 14"/>
          <p:cNvSpPr/>
          <p:nvPr/>
        </p:nvSpPr>
        <p:spPr>
          <a:xfrm>
            <a:off x="9000000" y="155016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9159840" y="1710000"/>
            <a:ext cx="2279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AI &amp; Machine Learning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YOLOv8 + OpenCV (Computer Vision), LSTM + XGBoost (Forecasting), RL &amp; A* (Routing)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16"/>
          <p:cNvSpPr/>
          <p:nvPr/>
        </p:nvSpPr>
        <p:spPr>
          <a:xfrm>
            <a:off x="600120" y="365004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17"/>
          <p:cNvSpPr/>
          <p:nvPr/>
        </p:nvSpPr>
        <p:spPr>
          <a:xfrm>
            <a:off x="600120" y="3650040"/>
            <a:ext cx="2599200" cy="442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8"/>
          <p:cNvSpPr/>
          <p:nvPr/>
        </p:nvSpPr>
        <p:spPr>
          <a:xfrm>
            <a:off x="759960" y="3809880"/>
            <a:ext cx="227916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Databases &amp; Storage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PostgreSQL + PostGIS (Spatial), TimescaleDB (Time-series), Redis (In-memory cache)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19"/>
          <p:cNvSpPr/>
          <p:nvPr/>
        </p:nvSpPr>
        <p:spPr>
          <a:xfrm>
            <a:off x="3399840" y="365004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20"/>
          <p:cNvSpPr/>
          <p:nvPr/>
        </p:nvSpPr>
        <p:spPr>
          <a:xfrm>
            <a:off x="3399840" y="3650040"/>
            <a:ext cx="259920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21"/>
          <p:cNvSpPr/>
          <p:nvPr/>
        </p:nvSpPr>
        <p:spPr>
          <a:xfrm>
            <a:off x="3560040" y="3809880"/>
            <a:ext cx="2279160" cy="67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Cloud &amp; DevOps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AWS IoT Core, Azure Cloud, AWS S3, GitHub Actions CI/CD automation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22"/>
          <p:cNvSpPr/>
          <p:nvPr/>
        </p:nvSpPr>
        <p:spPr>
          <a:xfrm>
            <a:off x="6199920" y="365004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23"/>
          <p:cNvSpPr/>
          <p:nvPr/>
        </p:nvSpPr>
        <p:spPr>
          <a:xfrm>
            <a:off x="6199920" y="3650040"/>
            <a:ext cx="2599200" cy="4428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4"/>
          <p:cNvSpPr/>
          <p:nvPr/>
        </p:nvSpPr>
        <p:spPr>
          <a:xfrm>
            <a:off x="6360120" y="3809880"/>
            <a:ext cx="2279160" cy="67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Authority Dashboard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React.js, Mapbox GL / Google Maps API, Recharts, WebSocket telemetry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25"/>
          <p:cNvSpPr/>
          <p:nvPr/>
        </p:nvSpPr>
        <p:spPr>
          <a:xfrm>
            <a:off x="9000000" y="365004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26"/>
          <p:cNvSpPr/>
          <p:nvPr/>
        </p:nvSpPr>
        <p:spPr>
          <a:xfrm>
            <a:off x="9000000" y="365004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7"/>
          <p:cNvSpPr/>
          <p:nvPr/>
        </p:nvSpPr>
        <p:spPr>
          <a:xfrm>
            <a:off x="9159840" y="3809880"/>
            <a:ext cx="2279160" cy="67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Commuter Mobile App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601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React Native / Flutter, real-time push alerts, offline vector maps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28"/>
          <p:cNvSpPr/>
          <p:nvPr/>
        </p:nvSpPr>
        <p:spPr>
          <a:xfrm>
            <a:off x="600120" y="5649840"/>
            <a:ext cx="10999440" cy="54936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9"/>
          <p:cNvSpPr/>
          <p:nvPr/>
        </p:nvSpPr>
        <p:spPr>
          <a:xfrm>
            <a:off x="799920" y="5730120"/>
            <a:ext cx="96476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⚙️ Design Principle: </a:t>
            </a:r>
            <a:r>
              <a:rPr lang="en-US" sz="105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Microservices-based decoupled architecture ensures high availability, sub-second telemetry latency, and modular sensor integrations.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METRICS &amp; PERFORMANCE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Expected Outcome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Quantifiable impact and measurable performance enhancements across city transportation networks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4"/>
          <p:cNvSpPr/>
          <p:nvPr/>
        </p:nvSpPr>
        <p:spPr>
          <a:xfrm>
            <a:off x="60012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5"/>
          <p:cNvSpPr/>
          <p:nvPr/>
        </p:nvSpPr>
        <p:spPr>
          <a:xfrm>
            <a:off x="600120" y="1550160"/>
            <a:ext cx="259920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6"/>
          <p:cNvSpPr/>
          <p:nvPr/>
        </p:nvSpPr>
        <p:spPr>
          <a:xfrm>
            <a:off x="759960" y="1710000"/>
            <a:ext cx="227916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25% - 35%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Commute Delay Reduction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Adaptive green-light allocation prevents unnecessary idle waits at clear intersections.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7"/>
          <p:cNvSpPr/>
          <p:nvPr/>
        </p:nvSpPr>
        <p:spPr>
          <a:xfrm>
            <a:off x="339984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8"/>
          <p:cNvSpPr/>
          <p:nvPr/>
        </p:nvSpPr>
        <p:spPr>
          <a:xfrm>
            <a:off x="3399840" y="1550160"/>
            <a:ext cx="259920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9"/>
          <p:cNvSpPr/>
          <p:nvPr/>
        </p:nvSpPr>
        <p:spPr>
          <a:xfrm>
            <a:off x="3560040" y="1710000"/>
            <a:ext cx="227916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15 - 60 min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Early Warning Window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Predictive models detect congestion buildup early enough to divert traffic proactively.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0"/>
          <p:cNvSpPr/>
          <p:nvPr/>
        </p:nvSpPr>
        <p:spPr>
          <a:xfrm>
            <a:off x="619992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11"/>
          <p:cNvSpPr/>
          <p:nvPr/>
        </p:nvSpPr>
        <p:spPr>
          <a:xfrm>
            <a:off x="6199920" y="1550160"/>
            <a:ext cx="2599200" cy="442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2"/>
          <p:cNvSpPr/>
          <p:nvPr/>
        </p:nvSpPr>
        <p:spPr>
          <a:xfrm>
            <a:off x="6360120" y="1710000"/>
            <a:ext cx="227916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18% - 22%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Fuel &amp; Emission Cuts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Smoother stop-and-go cycles directly decrease urban carbon footprint and fuel wastage.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13"/>
          <p:cNvSpPr/>
          <p:nvPr/>
        </p:nvSpPr>
        <p:spPr>
          <a:xfrm>
            <a:off x="9000000" y="1550160"/>
            <a:ext cx="2599200" cy="189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14"/>
          <p:cNvSpPr/>
          <p:nvPr/>
        </p:nvSpPr>
        <p:spPr>
          <a:xfrm>
            <a:off x="9000000" y="1550160"/>
            <a:ext cx="2599200" cy="4428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5"/>
          <p:cNvSpPr/>
          <p:nvPr/>
        </p:nvSpPr>
        <p:spPr>
          <a:xfrm>
            <a:off x="9159840" y="1710000"/>
            <a:ext cx="227916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100%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City-Wide Visibility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Centralized real-time telemetry dashboard for municipal traffic authorities.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6"/>
          <p:cNvSpPr/>
          <p:nvPr/>
        </p:nvSpPr>
        <p:spPr>
          <a:xfrm>
            <a:off x="600120" y="3650040"/>
            <a:ext cx="10999440" cy="2499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Rectangle 17"/>
          <p:cNvSpPr/>
          <p:nvPr/>
        </p:nvSpPr>
        <p:spPr>
          <a:xfrm>
            <a:off x="600120" y="3650040"/>
            <a:ext cx="1099944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18"/>
          <p:cNvSpPr/>
          <p:nvPr/>
        </p:nvSpPr>
        <p:spPr>
          <a:xfrm>
            <a:off x="849960" y="3800160"/>
            <a:ext cx="10499400" cy="18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KEY PROJECT DELIVERABLES &amp; VERIFIABLE RESULTS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End-to-End Simulation Prototype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Functional simulated corridor demonstrating live YOLOv8 vehicle counting, dynamic queue adjustment, and real-time signal phase switching.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Authority Control Center Dashboard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Interactive web portal with live GIS map layers, incident detection alerts, corridor velocity tracking, and manual override capability.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Mobile Commuter Companion Interface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Responsive web/mobile client offering predictive alternate routes and live congestion alerts before embarking on trips.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• Emergency Vehicle Pre-Emption Protocol — </a:t>
            </a: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Automated green-corridor clearing for ambulances and emergency response units to reduce transit times by up to 50%.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VALUE CREATION &amp; SUSTAINABILITY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Social / Industrial Impact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Generating multi-dimensional value across citizens, municipal governance, logistics, and the environment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4"/>
          <p:cNvSpPr/>
          <p:nvPr/>
        </p:nvSpPr>
        <p:spPr>
          <a:xfrm>
            <a:off x="600120" y="1550160"/>
            <a:ext cx="5349240" cy="209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ectangle 5"/>
          <p:cNvSpPr/>
          <p:nvPr/>
        </p:nvSpPr>
        <p:spPr>
          <a:xfrm>
            <a:off x="600120" y="1550160"/>
            <a:ext cx="5349240" cy="4428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6"/>
          <p:cNvSpPr/>
          <p:nvPr/>
        </p:nvSpPr>
        <p:spPr>
          <a:xfrm>
            <a:off x="780120" y="1710000"/>
            <a:ext cx="498924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CITIZENS &amp; SOCIETY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Shorter Commutes &amp; Enhanced Road Safety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Saves millions of commuter hours, reducing stress and boosting daily urban quality of life.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Significantly decreases intersection collisions through disciplined automated phase transitions.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Ensures emergency ambulances reach medical centers without being trapped in gridlocks.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7"/>
          <p:cNvSpPr/>
          <p:nvPr/>
        </p:nvSpPr>
        <p:spPr>
          <a:xfrm>
            <a:off x="6249960" y="1550160"/>
            <a:ext cx="5349240" cy="209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8"/>
          <p:cNvSpPr/>
          <p:nvPr/>
        </p:nvSpPr>
        <p:spPr>
          <a:xfrm>
            <a:off x="6249960" y="1550160"/>
            <a:ext cx="534924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6429960" y="1710000"/>
            <a:ext cx="498924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INDUSTRIAL &amp; LOGISTICS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Commercial Fleet Efficiency &amp; Cost Savings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Reduces last-mile logistics transit unpredictability for e-commerce, quick-commerce, and trucking.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Cuts fleet idling fuel expenses by up to 20%, directly boosting supply chain operating margins.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Provides anonymized spatial mobility data to assist insurance underwriting and fleet route planning.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10"/>
          <p:cNvSpPr/>
          <p:nvPr/>
        </p:nvSpPr>
        <p:spPr>
          <a:xfrm>
            <a:off x="600120" y="3849840"/>
            <a:ext cx="5349240" cy="209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11"/>
          <p:cNvSpPr/>
          <p:nvPr/>
        </p:nvSpPr>
        <p:spPr>
          <a:xfrm>
            <a:off x="600120" y="3849840"/>
            <a:ext cx="5349240" cy="4428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12"/>
          <p:cNvSpPr/>
          <p:nvPr/>
        </p:nvSpPr>
        <p:spPr>
          <a:xfrm>
            <a:off x="780120" y="4010040"/>
            <a:ext cx="498924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GOVERNMENT &amp; URBAN BODIES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B2G Smart Governance &amp; Policy Alignment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Directly aligns with Union Budget 2026 urban infrastructure and smart mobility risk-guarantee missions.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Offers empirical data for evidence-based infrastructure planning (flyovers, bypasses, public transit).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Enables municipal authorities to manage expanding city populations without massive physical road widenings.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13"/>
          <p:cNvSpPr/>
          <p:nvPr/>
        </p:nvSpPr>
        <p:spPr>
          <a:xfrm>
            <a:off x="6249960" y="3849840"/>
            <a:ext cx="5349240" cy="209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14"/>
          <p:cNvSpPr/>
          <p:nvPr/>
        </p:nvSpPr>
        <p:spPr>
          <a:xfrm>
            <a:off x="6249960" y="3849840"/>
            <a:ext cx="5349240" cy="4428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5"/>
          <p:cNvSpPr/>
          <p:nvPr/>
        </p:nvSpPr>
        <p:spPr>
          <a:xfrm>
            <a:off x="6429960" y="4010040"/>
            <a:ext cx="4989240" cy="13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ENVIRONMENTAL HEALTH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Decarbonization &amp; Clean Urban Air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Mitigates toxic tailpipe idling emissions (NOx, CO, PM2.5) along high-density residential corridors.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Contributes tangibly towards national net-zero carbon goals and green city sustainability standards.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• Creates data baselines to quantify carbon credit generation from urban traffic optimization.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6"/>
          <p:cNvSpPr/>
          <p:nvPr/>
        </p:nvSpPr>
        <p:spPr>
          <a:xfrm>
            <a:off x="600120" y="5850000"/>
            <a:ext cx="10999440" cy="39924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600">
            <a:solidFill>
              <a:srgbClr val="C7D2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7"/>
          <p:cNvSpPr/>
          <p:nvPr/>
        </p:nvSpPr>
        <p:spPr>
          <a:xfrm>
            <a:off x="799920" y="5900040"/>
            <a:ext cx="9002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🌟 Sustainable Development Goals: </a:t>
            </a:r>
            <a:r>
              <a:rPr lang="en-US" sz="10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Directly contributes to UN SDG 9 (Industry &amp; Innovation), SDG 11 (Sustainable Cities), and SDG 13 (Climate Action).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Box 1"/>
          <p:cNvSpPr/>
          <p:nvPr/>
        </p:nvSpPr>
        <p:spPr>
          <a:xfrm>
            <a:off x="600120" y="360000"/>
            <a:ext cx="6999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STRATEGIC ROADMAP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"/>
          <p:cNvSpPr/>
          <p:nvPr/>
        </p:nvSpPr>
        <p:spPr>
          <a:xfrm>
            <a:off x="600120" y="600120"/>
            <a:ext cx="109994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Future Scope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3"/>
          <p:cNvSpPr/>
          <p:nvPr/>
        </p:nvSpPr>
        <p:spPr>
          <a:xfrm>
            <a:off x="600120" y="1050120"/>
            <a:ext cx="10999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Phased deployment strategy from hackathon MVP to city-scale intelligent infrastructure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4"/>
          <p:cNvSpPr/>
          <p:nvPr/>
        </p:nvSpPr>
        <p:spPr>
          <a:xfrm>
            <a:off x="600120" y="1550160"/>
            <a:ext cx="2599200" cy="2199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5"/>
          <p:cNvSpPr/>
          <p:nvPr/>
        </p:nvSpPr>
        <p:spPr>
          <a:xfrm>
            <a:off x="600120" y="1550160"/>
            <a:ext cx="2599200" cy="54360"/>
          </a:xfrm>
          <a:prstGeom prst="rect">
            <a:avLst/>
          </a:prstGeom>
          <a:solidFill>
            <a:srgbClr val="2563EB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6"/>
          <p:cNvSpPr/>
          <p:nvPr/>
        </p:nvSpPr>
        <p:spPr>
          <a:xfrm>
            <a:off x="780120" y="1730160"/>
            <a:ext cx="223920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  <a:ea typeface="DejaVu Sans"/>
              </a:rPr>
              <a:t>PHASE 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Hackathon MVP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Simulated IoT data ingestion, YOLOv8 vision pipeline, baseline LSTM traffic forecasting on single-city dataset.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7"/>
          <p:cNvSpPr/>
          <p:nvPr/>
        </p:nvSpPr>
        <p:spPr>
          <a:xfrm>
            <a:off x="3399840" y="1550160"/>
            <a:ext cx="2599200" cy="2199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ectangle 8"/>
          <p:cNvSpPr/>
          <p:nvPr/>
        </p:nvSpPr>
        <p:spPr>
          <a:xfrm>
            <a:off x="3399840" y="1550160"/>
            <a:ext cx="2599200" cy="5436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9"/>
          <p:cNvSpPr/>
          <p:nvPr/>
        </p:nvSpPr>
        <p:spPr>
          <a:xfrm>
            <a:off x="3579840" y="1730160"/>
            <a:ext cx="2239200" cy="11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PHASE 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Pilot Corridor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Real hardware deployment on 1 pilot municipal arterial road with local traffic police partnership.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ounded Rectangle 10"/>
          <p:cNvSpPr/>
          <p:nvPr/>
        </p:nvSpPr>
        <p:spPr>
          <a:xfrm>
            <a:off x="6199920" y="1550160"/>
            <a:ext cx="2599200" cy="2199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ectangle 11"/>
          <p:cNvSpPr/>
          <p:nvPr/>
        </p:nvSpPr>
        <p:spPr>
          <a:xfrm>
            <a:off x="6199920" y="1550160"/>
            <a:ext cx="2599200" cy="54360"/>
          </a:xfrm>
          <a:prstGeom prst="rect">
            <a:avLst/>
          </a:prstGeom>
          <a:solidFill>
            <a:srgbClr val="D97706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12"/>
          <p:cNvSpPr/>
          <p:nvPr/>
        </p:nvSpPr>
        <p:spPr>
          <a:xfrm>
            <a:off x="6379920" y="1730160"/>
            <a:ext cx="223920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D97706"/>
                </a:solidFill>
                <a:effectLst/>
                <a:uFillTx/>
                <a:latin typeface="Calibri"/>
                <a:ea typeface="DejaVu Sans"/>
              </a:rPr>
              <a:t>PHASE 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Multi-City Scale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Cloud microservices expansion across multiple metro corridors and public release of commuter navigation companion app.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ounded Rectangle 13"/>
          <p:cNvSpPr/>
          <p:nvPr/>
        </p:nvSpPr>
        <p:spPr>
          <a:xfrm>
            <a:off x="9000000" y="1550160"/>
            <a:ext cx="2599200" cy="2199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ectangle 14"/>
          <p:cNvSpPr/>
          <p:nvPr/>
        </p:nvSpPr>
        <p:spPr>
          <a:xfrm>
            <a:off x="9000000" y="1550160"/>
            <a:ext cx="2599200" cy="54360"/>
          </a:xfrm>
          <a:prstGeom prst="rect">
            <a:avLst/>
          </a:prstGeom>
          <a:solidFill>
            <a:srgbClr val="1E3A8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0080" rIns="90000" bIns="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15"/>
          <p:cNvSpPr/>
          <p:nvPr/>
        </p:nvSpPr>
        <p:spPr>
          <a:xfrm>
            <a:off x="9180000" y="1730160"/>
            <a:ext cx="223920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PHASE 4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DejaVu Sans"/>
              </a:rPr>
              <a:t>V2X &amp; Autonomous Era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799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Vehicle-to-Infrastructure (V2I) communication, EV grid balancing, and B2B telemetry insights licensing.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16"/>
          <p:cNvSpPr/>
          <p:nvPr/>
        </p:nvSpPr>
        <p:spPr>
          <a:xfrm>
            <a:off x="600120" y="3999960"/>
            <a:ext cx="10999440" cy="2249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Rectangle 17"/>
          <p:cNvSpPr/>
          <p:nvPr/>
        </p:nvSpPr>
        <p:spPr>
          <a:xfrm>
            <a:off x="600120" y="3999960"/>
            <a:ext cx="10999440" cy="44280"/>
          </a:xfrm>
          <a:prstGeom prst="rect">
            <a:avLst/>
          </a:prstGeom>
          <a:solidFill>
            <a:srgbClr val="0D9488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0" rIns="90000" bIns="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18"/>
          <p:cNvSpPr/>
          <p:nvPr/>
        </p:nvSpPr>
        <p:spPr>
          <a:xfrm>
            <a:off x="849960" y="4200120"/>
            <a:ext cx="10499400" cy="9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E3A8A"/>
                </a:solidFill>
                <a:effectLst/>
                <a:uFillTx/>
                <a:latin typeface="Calibri"/>
                <a:ea typeface="DejaVu Sans"/>
              </a:rPr>
              <a:t>Thank You!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DejaVu Sans"/>
              </a:rPr>
              <a:t>Open for Questions &amp; Discussion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DejaVu Sans"/>
              </a:rPr>
              <a:t>Team: Tech Geeks  |  Vikrant University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2026-08-23T15:51:05Z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