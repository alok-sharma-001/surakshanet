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3F8CB0-09AB-46A9-B088-1BFD48FF70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8B549BC-1237-4772-A951-59A7F39A58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19F37A-2060-49F9-9ABF-F0DFE1A518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DAE75B6-B7D2-47C2-B94A-81D127ECB1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9A7BF46-C8C8-495B-BEB3-A98843D0F3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B1A89EC-7F7B-4615-A6C3-4F7084943A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B68B8A8-B0AB-4932-959C-B7DB1849FF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40B31AD-4BD8-4A55-8F3C-C71EB69814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D9C64DF-64CF-47DA-B32B-F3E4BB61CF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44837E-7A9F-4D5B-991C-DC722E10B2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A0DE30-0735-4EB1-A8E4-2637F73936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261AD86-5904-454B-A98C-0275EF9D14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4C635D-D586-419A-B624-6E72AFBE7F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vert="eaVert">
            <a:no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93F511F-B2B7-4931-81D5-5DA80E8714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2D0653A-F4E2-4B2D-9DCE-25260E2A85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540720"/>
            <a:ext cx="10972080" cy="6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90A4FF-F037-45E9-B21D-1ACD9F1DAA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D7ADCA-C104-44BF-8FB7-139113A9EF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2189FD-ABC5-41C4-A5F5-F86A5A96D4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21BFD1-85F7-4D1A-9DDD-D0E626EAB9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1"/>
          <p:cNvSpPr/>
          <p:nvPr/>
        </p:nvSpPr>
        <p:spPr>
          <a:xfrm>
            <a:off x="8691840" y="-799920"/>
            <a:ext cx="4499280" cy="449928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ounded Rectangle 2"/>
          <p:cNvSpPr/>
          <p:nvPr/>
        </p:nvSpPr>
        <p:spPr>
          <a:xfrm>
            <a:off x="600120" y="550080"/>
            <a:ext cx="5499360" cy="33912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749880" y="590040"/>
            <a:ext cx="416700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SMART CITY INNOVATION  |  INNOVIK6.0 HACKATHON PRESENTATION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600120" y="1050120"/>
            <a:ext cx="1099944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Intelligent Transportation &amp;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Traffic Optimization System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600120" y="2350080"/>
            <a:ext cx="10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An AI-Driven Smart Traffic Management Platform for Safer, Greener &amp; Congestion-Free Cities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600120" y="2900160"/>
            <a:ext cx="10999440" cy="1728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600120" y="3099960"/>
            <a:ext cx="19105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PROJECT TEAM &amp; INSTITUTION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600120" y="3499920"/>
            <a:ext cx="2599200" cy="139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9"/>
          <p:cNvSpPr/>
          <p:nvPr/>
        </p:nvSpPr>
        <p:spPr>
          <a:xfrm>
            <a:off x="600120" y="349992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Oval 10"/>
          <p:cNvSpPr/>
          <p:nvPr/>
        </p:nvSpPr>
        <p:spPr>
          <a:xfrm>
            <a:off x="799920" y="3679920"/>
            <a:ext cx="379440" cy="37944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927360" y="3719880"/>
            <a:ext cx="1242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A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799920" y="4119840"/>
            <a:ext cx="2199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Alok Sharma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3"/>
          <p:cNvSpPr/>
          <p:nvPr/>
        </p:nvSpPr>
        <p:spPr>
          <a:xfrm>
            <a:off x="3399840" y="3499920"/>
            <a:ext cx="2599200" cy="139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14"/>
          <p:cNvSpPr/>
          <p:nvPr/>
        </p:nvSpPr>
        <p:spPr>
          <a:xfrm>
            <a:off x="3399840" y="349992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Oval 15"/>
          <p:cNvSpPr/>
          <p:nvPr/>
        </p:nvSpPr>
        <p:spPr>
          <a:xfrm>
            <a:off x="3600000" y="3679920"/>
            <a:ext cx="379440" cy="37944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3720960" y="3719880"/>
            <a:ext cx="1371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H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7"/>
          <p:cNvSpPr/>
          <p:nvPr/>
        </p:nvSpPr>
        <p:spPr>
          <a:xfrm>
            <a:off x="3600000" y="4119840"/>
            <a:ext cx="2199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Himanshu Patel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8"/>
          <p:cNvSpPr/>
          <p:nvPr/>
        </p:nvSpPr>
        <p:spPr>
          <a:xfrm>
            <a:off x="6199920" y="3499920"/>
            <a:ext cx="2599200" cy="139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19"/>
          <p:cNvSpPr/>
          <p:nvPr/>
        </p:nvSpPr>
        <p:spPr>
          <a:xfrm>
            <a:off x="6199920" y="349992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Oval 20"/>
          <p:cNvSpPr/>
          <p:nvPr/>
        </p:nvSpPr>
        <p:spPr>
          <a:xfrm>
            <a:off x="6400080" y="3679920"/>
            <a:ext cx="379440" cy="37944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1"/>
          <p:cNvSpPr/>
          <p:nvPr/>
        </p:nvSpPr>
        <p:spPr>
          <a:xfrm>
            <a:off x="6523920" y="3719880"/>
            <a:ext cx="131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2"/>
          <p:cNvSpPr/>
          <p:nvPr/>
        </p:nvSpPr>
        <p:spPr>
          <a:xfrm>
            <a:off x="6400080" y="4119840"/>
            <a:ext cx="2199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Dhanushka Pal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23"/>
          <p:cNvSpPr/>
          <p:nvPr/>
        </p:nvSpPr>
        <p:spPr>
          <a:xfrm>
            <a:off x="9000000" y="3499920"/>
            <a:ext cx="2599200" cy="139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4"/>
          <p:cNvSpPr/>
          <p:nvPr/>
        </p:nvSpPr>
        <p:spPr>
          <a:xfrm>
            <a:off x="9000000" y="349992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Oval 25"/>
          <p:cNvSpPr/>
          <p:nvPr/>
        </p:nvSpPr>
        <p:spPr>
          <a:xfrm>
            <a:off x="9200160" y="3679920"/>
            <a:ext cx="379440" cy="37944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6"/>
          <p:cNvSpPr/>
          <p:nvPr/>
        </p:nvSpPr>
        <p:spPr>
          <a:xfrm>
            <a:off x="9340200" y="3719880"/>
            <a:ext cx="990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7"/>
          <p:cNvSpPr/>
          <p:nvPr/>
        </p:nvSpPr>
        <p:spPr>
          <a:xfrm>
            <a:off x="9200160" y="4119840"/>
            <a:ext cx="2199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Sunaina Pal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28"/>
          <p:cNvSpPr/>
          <p:nvPr/>
        </p:nvSpPr>
        <p:spPr>
          <a:xfrm>
            <a:off x="600120" y="5150160"/>
            <a:ext cx="10999440" cy="79920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BFDB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9"/>
          <p:cNvSpPr/>
          <p:nvPr/>
        </p:nvSpPr>
        <p:spPr>
          <a:xfrm>
            <a:off x="844920" y="5258880"/>
            <a:ext cx="5832720" cy="64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Institution: Vikrant University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2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Department of Computer Science &amp; Engineering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518920" y="3052800"/>
            <a:ext cx="256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55308D"/>
                </a:solidFill>
                <a:effectLst/>
                <a:uFillTx/>
                <a:latin typeface="Calibri"/>
              </a:rPr>
              <a:t>Tech Geeks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HACKATHON CHALLENGE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Selected Problem Statement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AI-Driven Intelligent Transportation and Smart Traffic Management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600120" y="1550160"/>
            <a:ext cx="3599280" cy="17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600120" y="1550160"/>
            <a:ext cx="359928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799920" y="1699920"/>
            <a:ext cx="3199320" cy="142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CATEGORY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Software &amp; Web Engineering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Artificial Intelligence / ML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Internet of Things (IoT)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Cloud &amp; Distributed Computing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Real-Time Data Analytics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7"/>
          <p:cNvSpPr/>
          <p:nvPr/>
        </p:nvSpPr>
        <p:spPr>
          <a:xfrm>
            <a:off x="600120" y="3549960"/>
            <a:ext cx="3599280" cy="23994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600">
            <a:solidFill>
              <a:srgbClr val="A7F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8"/>
          <p:cNvSpPr/>
          <p:nvPr/>
        </p:nvSpPr>
        <p:spPr>
          <a:xfrm>
            <a:off x="600120" y="3549960"/>
            <a:ext cx="359928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799920" y="3700080"/>
            <a:ext cx="3199320" cy="11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THEME &amp; FOCUS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AI-Driven Intelligent Transportation &amp; Smart Traffic Management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Targeting high-density urban corridors with real-time adaptive signal control and predictive commuter routing.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0"/>
          <p:cNvSpPr/>
          <p:nvPr/>
        </p:nvSpPr>
        <p:spPr>
          <a:xfrm>
            <a:off x="4449960" y="1550160"/>
            <a:ext cx="7149240" cy="439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1"/>
          <p:cNvSpPr/>
          <p:nvPr/>
        </p:nvSpPr>
        <p:spPr>
          <a:xfrm>
            <a:off x="4449960" y="1550160"/>
            <a:ext cx="714924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4749840" y="1749960"/>
            <a:ext cx="6549120" cy="27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EXECUTIVE SUMMARY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Surakshanet is an AI-powered Intelligent Transportation System (ITS) combining Edge Computer Vision (YOLOv8 + TensorRT), Multi-Agent Reinforcement Learning (MARL), and SUMO micro-simulation.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It provides sub-second adaptive signal control (IRC:106 / IRC:93 compliant) and dynamic corridor-level commuter rerouting.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Deep learning time-series models predict congestion 15–60 minutes ahead, enabling pre-emptive green waves and commuter diversion.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5000"/>
              </a:lnSpc>
              <a:spcBef>
                <a:spcPts val="1001"/>
              </a:spcBef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Overall, the platform cuts travel delays by 25–35%, minimizes PM2.5/fuel waste, and directly aligns with India's Smart Cities Mission.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>
  <ns0:cSld>
    <ns0:bg>
      <ns0:bgPr>
        <ns1:solidFill>
          <ns1:srgbClr val="F8FAFC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7" name="TextBox 1"/>
          <ns0:cNvSpPr/>
          <ns0:nvPr/>
        </ns0:nvSpPr>
        <ns0:spPr>
          <ns1:xfrm>
            <ns1:off x="600120" y="360000"/>
            <ns1:ext cx="6999120" cy="14472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0" tIns="0" rIns="0" bIns="0" anchor="t">
            <ns1:spAutoFit/>
          </ns1:bodyPr>
          <ns1:p>
            <ns1:pPr defTabSz="457200">
              <ns1:lnSpc>
                <ns1:spcPct val="100000"/>
              </ns1:lnSpc>
            </ns1:pPr>
            <ns1:r>
              <ns1:rPr lang="en-US" sz="950" b="1" u="none" strike="noStrike">
                <ns1:solidFill>
                  <ns1:srgbClr val="2563EB"/>
                </ns1:solidFill>
                <ns1:effectLst/>
                <ns1:uFillTx/>
                <ns1:latin typeface="Calibri"/>
                <ns1:ea typeface="DejaVu Sans"/>
              </ns1:rPr>
              <ns1:t>URBAN MOBILITY CRISIS</ns1:t>
            </ns1:r>
            <ns1:endParaRPr lang="en-IN" sz="95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</ns0:txBody>
      </ns0:sp>
      <ns0:sp>
        <ns0:nvSpPr>
          <ns0:cNvPr id="108" name="TextBox 2"/>
          <ns0:cNvSpPr/>
          <ns0:nvPr/>
        </ns0:nvSpPr>
        <ns0:spPr>
          <ns1:xfrm>
            <ns1:off x="600120" y="600120"/>
            <ns1:ext cx="10999440" cy="36576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0" tIns="0" rIns="0" bIns="0" anchor="t">
            <ns1:spAutoFit/>
          </ns1:bodyPr>
          <ns1:p>
            <ns1:pPr defTabSz="457200">
              <ns1:lnSpc>
                <ns1:spcPct val="100000"/>
              </ns1:lnSpc>
            </ns1:pPr>
            <ns1:r>
              <ns1:rPr lang="en-US" sz="2400" b="1" u="none" strike="noStrike">
                <ns1:solidFill>
                  <ns1:srgbClr val="0F172A"/>
                </ns1:solidFill>
                <ns1:effectLst/>
                <ns1:uFillTx/>
                <ns1:latin typeface="Calibri"/>
                <ns1:ea typeface="DejaVu Sans"/>
              </ns1:rPr>
              <ns1:t>Problem Identification</ns1:t>
            </ns1:r>
            <ns1:endParaRPr lang="en-IN" sz="24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</ns0:txBody>
      </ns0:sp>
      <ns0:sp>
        <ns0:nvSpPr>
          <ns0:cNvPr id="109" name="TextBox 3"/>
          <ns0:cNvSpPr/>
          <ns0:nvPr/>
        </ns0:nvSpPr>
        <ns0:spPr>
          <ns1:xfrm>
            <ns1:off x="600120" y="1050120"/>
            <ns1:ext cx="10999440" cy="1828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0" tIns="0" rIns="0" bIns="0" anchor="t">
            <ns1:spAutoFit/>
          </ns1:bodyPr>
          <ns1:p>
            <ns1:pPr defTabSz="457200">
              <ns1:lnSpc>
                <ns1:spcPct val="100000"/>
              </ns1:lnSpc>
            </ns1:pPr>
            <ns1:r>
              <ns1:rPr lang="en-US" sz="1200" b="0" u="none" strike="noStrike">
                <ns1:solidFill>
                  <ns1:srgbClr val="475569"/>
                </ns1:solidFill>
                <ns1:effectLst/>
                <ns1:uFillTx/>
                <ns1:latin typeface="Calibri"/>
                <ns1:ea typeface="DejaVu Sans"/>
              </ns1:rPr>
              <ns1:t>India's cities are losing immense time, economic productivity, and lives to chronic traffic congestion</ns1:t>
            </ns1:r>
            <ns1:endParaRPr lang="en-IN" sz="12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</ns0:txBody>
      </ns0:sp>
      <ns0:sp>
        <ns0:nvSpPr>
          <ns0:cNvPr id="110" name="Rounded Rectangle 4"/>
          <ns0:cNvSpPr/>
          <ns0:nvPr/>
        </ns0:nvSpPr>
        <ns0:spPr>
          <ns1:xfrm>
            <ns1:off x="600120" y="1550160"/>
            <ns1:ext cx="3459240" cy="189936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12600">
            <ns1:solidFill>
              <ns1:srgbClr val="E2E8F0"/>
            </ns1:solidFill>
            <ns1:round/>
          </ns1:ln>
          <ns1:effectLst>
            <ns1:outerShdw blurRad="39960" dir="5400000" dist="23040" rotWithShape="0">
              <ns1:srgbClr val="000000">
                <ns1:alpha val="35000"/>
              </ns1:srgbClr>
            </ns1:outerShdw>
          </ns1:effectLst>
        </ns0:spPr>
        <ns0:style>
          <ns1:lnRef idx="0"/>
          <ns1:fillRef idx="0"/>
          <ns1:effectRef idx="0"/>
          <ns1:fontRef idx="minor"/>
        </ns0:style>
        <ns0:txBody>
          <ns1:bodyPr lIns="90000" tIns="45000" rIns="90000" bIns="45000" anchor="ctr">
            <ns1:noAutofit/>
          </ns1:bodyPr>
          <ns1:p>
            <ns1:endParaRPr lang="en-US" sz="1800" b="0" u="none" strike="noStrike">
              <ns1:solidFill>
                <ns1:schemeClr val="lt1"/>
              </ns1:solidFill>
              <ns1:effectLst/>
              <ns1:uFillTx/>
              <ns1:latin typeface="Calibri"/>
            </ns1:endParaRPr>
          </ns1:p>
        </ns0:txBody>
      </ns0:sp>
      <ns0:sp>
        <ns0:nvSpPr>
          <ns0:cNvPr id="111" name="Rectangle 5"/>
          <ns0:cNvSpPr/>
          <ns0:nvPr/>
        </ns0:nvSpPr>
        <ns0:spPr>
          <ns1:xfrm>
            <ns1:off x="600120" y="1550160"/>
            <ns1:ext cx="3459240" cy="44280"/>
          </ns1:xfrm>
          <ns1:prstGeom prst="rect">
            <ns1:avLst/>
          </ns1:prstGeom>
          <ns1:solidFill>
            <ns1:srgbClr val="D97706"/>
          </ns1:solidFill>
          <ns1:ln w="9360">
            <ns1:noFill/>
          </ns1:ln>
          <ns1:effectLst>
            <ns1:outerShdw blurRad="39960" dir="5400000" dist="23040" rotWithShape="0">
              <ns1:srgbClr val="000000">
                <ns1:alpha val="35000"/>
              </ns1:srgbClr>
            </ns1:outerShdw>
          </ns1:effectLst>
        </ns0:spPr>
        <ns0:style>
          <ns1:lnRef idx="0"/>
          <ns1:fillRef idx="0"/>
          <ns1:effectRef idx="0"/>
          <ns1:fontRef idx="minor"/>
        </ns0:style>
        <ns0:txBody>
          <ns1:bodyPr lIns="90000" tIns="0" rIns="90000" bIns="0" anchor="ctr">
            <ns1:noAutofit/>
          </ns1:bodyPr>
          <ns1:p>
            <ns1:endParaRPr lang="en-US" sz="1800" b="0" u="none" strike="noStrike">
              <ns1:solidFill>
                <ns1:schemeClr val="lt1"/>
              </ns1:solidFill>
              <ns1:effectLst/>
              <ns1:uFillTx/>
              <ns1:latin typeface="Calibri"/>
            </ns1:endParaRPr>
          </ns1:p>
        </ns0:txBody>
      </ns0:sp>
      <ns0:sp>
        <ns0:nvSpPr>
          <ns0:cNvPr id="112" name="TextBox 6"/>
          <ns0:cNvSpPr/>
          <ns0:nvPr/>
        </ns0:nvSpPr>
        <ns0:spPr>
          <ns1:xfrm>
            <ns1:off x="799920" y="1710000"/>
            <ns1:ext cx="3059280" cy="103104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0" tIns="0" rIns="0" bIns="0" anchor="t">
            <ns1:spAutoFit/>
          </ns1:bodyPr>
          <ns1:p>
            <ns1:pPr defTabSz="457200">
              <ns1:lnSpc>
                <ns1:spcPct val="100000"/>
              </ns1:lnSpc>
            </ns1:pPr>
            <ns1:r>
              <ns1:rPr lang="en-US" sz="2800" b="1" u="none" strike="noStrike">
                <ns1:solidFill>
                  <ns1:srgbClr val="D97706"/>
                </ns1:solidFill>
                <ns1:effectLst/>
                <ns1:uFillTx/>
                <ns1:latin typeface="Calibri"/>
                <ns1:ea typeface="DejaVu Sans"/>
              </ns1:rPr>
              <ns1:t>168 hrs</ns1:t>
            </ns1:r>
            <ns1:endParaRPr lang="en-IN" sz="28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400"/>
              </ns1:spcBef>
            </ns1:pPr>
            <ns1:r>
              <ns1:rPr lang="en-US" sz="1200" b="1" u="none" strike="noStrike">
                <ns1:solidFill>
                  <ns1:srgbClr val="0F172A"/>
                </ns1:solidFill>
                <ns1:effectLst/>
                <ns1:uFillTx/>
                <ns1:latin typeface="Calibri"/>
                <ns1:ea typeface="DejaVu Sans"/>
              </ns1:rPr>
              <ns1:t>Lost per commuter annually</ns1:t>
            </ns1:r>
            <ns1:endParaRPr lang="en-IN" sz="12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400"/>
              </ns1:spcBef>
            </ns1:pPr>
            <ns1:r>
              <ns1:rPr lang="en-US" sz="1050" b="0" u="none" strike="noStrike">
                <ns1:solidFill>
                  <ns1:srgbClr val="475569"/>
                </ns1:solidFill>
                <ns1:effectLst/>
                <ns1:uFillTx/>
                <ns1:latin typeface="Calibri"/>
                <ns1:ea typeface="DejaVu Sans"/>
              </ns1:rPr>
              <ns1:t>in Bengaluru — 2nd most congested city in the world (TomTom 2025)</ns1:t>
            </ns1:r>
            <ns1:endParaRPr lang="en-IN" sz="105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</ns0:txBody>
      </ns0:sp>
      <ns0:sp>
        <ns0:nvSpPr>
          <ns0:cNvPr id="113" name="Rounded Rectangle 7"/>
          <ns0:cNvSpPr/>
          <ns0:nvPr/>
        </ns0:nvSpPr>
        <ns0:spPr>
          <ns1:xfrm>
            <ns1:off x="4359960" y="1550160"/>
            <ns1:ext cx="3459240" cy="189936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12600">
            <ns1:solidFill>
              <ns1:srgbClr val="E2E8F0"/>
            </ns1:solidFill>
            <ns1:round/>
          </ns1:ln>
          <ns1:effectLst>
            <ns1:outerShdw blurRad="39960" dir="5400000" dist="23040" rotWithShape="0">
              <ns1:srgbClr val="000000">
                <ns1:alpha val="35000"/>
              </ns1:srgbClr>
            </ns1:outerShdw>
          </ns1:effectLst>
        </ns0:spPr>
        <ns0:style>
          <ns1:lnRef idx="0"/>
          <ns1:fillRef idx="0"/>
          <ns1:effectRef idx="0"/>
          <ns1:fontRef idx="minor"/>
        </ns0:style>
        <ns0:txBody>
          <ns1:bodyPr lIns="90000" tIns="45000" rIns="90000" bIns="45000" anchor="ctr">
            <ns1:noAutofit/>
          </ns1:bodyPr>
          <ns1:p>
            <ns1:endParaRPr lang="en-US" sz="1800" b="0" u="none" strike="noStrike">
              <ns1:solidFill>
                <ns1:schemeClr val="lt1"/>
              </ns1:solidFill>
              <ns1:effectLst/>
              <ns1:uFillTx/>
              <ns1:latin typeface="Calibri"/>
            </ns1:endParaRPr>
          </ns1:p>
        </ns0:txBody>
      </ns0:sp>
      <ns0:sp>
        <ns0:nvSpPr>
          <ns0:cNvPr id="114" name="Rectangle 8"/>
          <ns0:cNvSpPr/>
          <ns0:nvPr/>
        </ns0:nvSpPr>
        <ns0:spPr>
          <ns1:xfrm>
            <ns1:off x="4359960" y="1550160"/>
            <ns1:ext cx="3459240" cy="44280"/>
          </ns1:xfrm>
          <ns1:prstGeom prst="rect">
            <ns1:avLst/>
          </ns1:prstGeom>
          <ns1:solidFill>
            <ns1:srgbClr val="2563EB"/>
          </ns1:solidFill>
          <ns1:ln w="9360">
            <ns1:noFill/>
          </ns1:ln>
          <ns1:effectLst>
            <ns1:outerShdw blurRad="39960" dir="5400000" dist="23040" rotWithShape="0">
              <ns1:srgbClr val="000000">
                <ns1:alpha val="35000"/>
              </ns1:srgbClr>
            </ns1:outerShdw>
          </ns1:effectLst>
        </ns0:spPr>
        <ns0:style>
          <ns1:lnRef idx="0"/>
          <ns1:fillRef idx="0"/>
          <ns1:effectRef idx="0"/>
          <ns1:fontRef idx="minor"/>
        </ns0:style>
        <ns0:txBody>
          <ns1:bodyPr lIns="90000" tIns="0" rIns="90000" bIns="0" anchor="ctr">
            <ns1:noAutofit/>
          </ns1:bodyPr>
          <ns1:p>
            <ns1:endParaRPr lang="en-US" sz="1800" b="0" u="none" strike="noStrike">
              <ns1:solidFill>
                <ns1:schemeClr val="lt1"/>
              </ns1:solidFill>
              <ns1:effectLst/>
              <ns1:uFillTx/>
              <ns1:latin typeface="Calibri"/>
            </ns1:endParaRPr>
          </ns1:p>
        </ns0:txBody>
      </ns0:sp>
      <ns0:sp>
        <ns0:nvSpPr>
          <ns0:cNvPr id="115" name="TextBox 9"/>
          <ns0:cNvSpPr/>
          <ns0:nvPr/>
        </ns0:nvSpPr>
        <ns0:spPr>
          <ns1:xfrm>
            <ns1:off x="4560120" y="1710000"/>
            <ns1:ext cx="3059280" cy="103104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0" tIns="0" rIns="0" bIns="0" anchor="t">
            <ns1:spAutoFit/>
          </ns1:bodyPr>
          <ns1:p>
            <ns1:pPr defTabSz="457200">
              <ns1:lnSpc>
                <ns1:spcPct val="100000"/>
              </ns1:lnSpc>
            </ns1:pPr>
            <ns1:r>
              <ns1:rPr lang="en-US" sz="2800" b="1" u="none" strike="noStrike">
                <ns1:solidFill>
                  <ns1:srgbClr val="2563EB"/>
                </ns1:solidFill>
                <ns1:effectLst/>
                <ns1:uFillTx/>
                <ns1:latin typeface="Calibri"/>
                <ns1:ea typeface="DejaVu Sans"/>
              </ns1:rPr>
              <ns1:t>$22 B</ns1:t>
            </ns1:r>
            <ns1:endParaRPr lang="en-IN" sz="28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400"/>
              </ns1:spcBef>
            </ns1:pPr>
            <ns1:r>
              <ns1:rPr lang="en-US" sz="1200" b="1" u="none" strike="noStrike">
                <ns1:solidFill>
                  <ns1:srgbClr val="0F172A"/>
                </ns1:solidFill>
                <ns1:effectLst/>
                <ns1:uFillTx/>
                <ns1:latin typeface="Calibri"/>
                <ns1:ea typeface="DejaVu Sans"/>
              </ns1:rPr>
              <ns1:t>Annual congestion cost</ns1:t>
            </ns1:r>
            <ns1:endParaRPr lang="en-IN" sz="12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400"/>
              </ns1:spcBef>
            </ns1:pPr>
            <ns1:r>
              <ns1:rPr lang="en-US" sz="1050" b="0" u="none" strike="noStrike">
                <ns1:solidFill>
                  <ns1:srgbClr val="475569"/>
                </ns1:solidFill>
                <ns1:effectLst/>
                <ns1:uFillTx/>
                <ns1:latin typeface="Calibri"/>
                <ns1:ea typeface="DejaVu Sans"/>
              </ns1:rPr>
              <ns1:t>estimated economic loss across India's top 4 metros (Uber-BCG study)</ns1:t>
            </ns1:r>
            <ns1:endParaRPr lang="en-IN" sz="105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</ns0:txBody>
      </ns0:sp>
      <ns0:sp>
        <ns0:nvSpPr>
          <ns0:cNvPr id="116" name="Rounded Rectangle 10"/>
          <ns0:cNvSpPr/>
          <ns0:nvPr/>
        </ns0:nvSpPr>
        <ns0:spPr>
          <ns1:xfrm>
            <ns1:off x="8120160" y="1550160"/>
            <ns1:ext cx="3459240" cy="189936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12600">
            <ns1:solidFill>
              <ns1:srgbClr val="E2E8F0"/>
            </ns1:solidFill>
            <ns1:round/>
          </ns1:ln>
          <ns1:effectLst>
            <ns1:outerShdw blurRad="39960" dir="5400000" dist="23040" rotWithShape="0">
              <ns1:srgbClr val="000000">
                <ns1:alpha val="35000"/>
              </ns1:srgbClr>
            </ns1:outerShdw>
          </ns1:effectLst>
        </ns0:spPr>
        <ns0:style>
          <ns1:lnRef idx="0"/>
          <ns1:fillRef idx="0"/>
          <ns1:effectRef idx="0"/>
          <ns1:fontRef idx="minor"/>
        </ns0:style>
        <ns0:txBody>
          <ns1:bodyPr lIns="90000" tIns="45000" rIns="90000" bIns="45000" anchor="ctr">
            <ns1:noAutofit/>
          </ns1:bodyPr>
          <ns1:p>
            <ns1:endParaRPr lang="en-US" sz="1800" b="0" u="none" strike="noStrike">
              <ns1:solidFill>
                <ns1:schemeClr val="lt1"/>
              </ns1:solidFill>
              <ns1:effectLst/>
              <ns1:uFillTx/>
              <ns1:latin typeface="Calibri"/>
            </ns1:endParaRPr>
          </ns1:p>
        </ns0:txBody>
      </ns0:sp>
      <ns0:sp>
        <ns0:nvSpPr>
          <ns0:cNvPr id="117" name="Rectangle 11"/>
          <ns0:cNvSpPr/>
          <ns0:nvPr/>
        </ns0:nvSpPr>
        <ns0:spPr>
          <ns1:xfrm>
            <ns1:off x="8120160" y="1550160"/>
            <ns1:ext cx="3459240" cy="44280"/>
          </ns1:xfrm>
          <ns1:prstGeom prst="rect">
            <ns1:avLst/>
          </ns1:prstGeom>
          <ns1:solidFill>
            <ns1:srgbClr val="0D9488"/>
          </ns1:solidFill>
          <ns1:ln w="9360">
            <ns1:noFill/>
          </ns1:ln>
          <ns1:effectLst>
            <ns1:outerShdw blurRad="39960" dir="5400000" dist="23040" rotWithShape="0">
              <ns1:srgbClr val="000000">
                <ns1:alpha val="35000"/>
              </ns1:srgbClr>
            </ns1:outerShdw>
          </ns1:effectLst>
        </ns0:spPr>
        <ns0:style>
          <ns1:lnRef idx="0"/>
          <ns1:fillRef idx="0"/>
          <ns1:effectRef idx="0"/>
          <ns1:fontRef idx="minor"/>
        </ns0:style>
        <ns0:txBody>
          <ns1:bodyPr lIns="90000" tIns="0" rIns="90000" bIns="0" anchor="ctr">
            <ns1:noAutofit/>
          </ns1:bodyPr>
          <ns1:p>
            <ns1:endParaRPr lang="en-US" sz="1800" b="0" u="none" strike="noStrike">
              <ns1:solidFill>
                <ns1:schemeClr val="lt1"/>
              </ns1:solidFill>
              <ns1:effectLst/>
              <ns1:uFillTx/>
              <ns1:latin typeface="Calibri"/>
            </ns1:endParaRPr>
          </ns1:p>
        </ns0:txBody>
      </ns0:sp>
      <ns0:sp>
        <ns0:nvSpPr>
          <ns0:cNvPr id="118" name="TextBox 12"/>
          <ns0:cNvSpPr/>
          <ns0:nvPr/>
        </ns0:nvSpPr>
        <ns0:spPr>
          <ns1:xfrm>
            <ns1:off x="8319960" y="1710000"/>
            <ns1:ext cx="3059280" cy="103104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0" tIns="0" rIns="0" bIns="0" anchor="t">
            <ns1:spAutoFit/>
          </ns1:bodyPr>
          <ns1:p>
            <ns1:pPr defTabSz="457200">
              <ns1:lnSpc>
                <ns1:spcPct val="100000"/>
              </ns1:lnSpc>
            </ns1:pPr>
            <ns1:r>
              <ns1:rPr lang="en-US" sz="2800" b="1" u="none" strike="noStrike">
                <ns1:solidFill>
                  <ns1:srgbClr val="0D9488"/>
                </ns1:solidFill>
                <ns1:effectLst/>
                <ns1:uFillTx/>
                <ns1:latin typeface="Calibri"/>
                <ns1:ea typeface="DejaVu Sans"/>
              </ns1:rPr>
              <ns1:t>6 of 10</ns1:t>
            </ns1:r>
            <ns1:endParaRPr lang="en-IN" sz="28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400"/>
              </ns1:spcBef>
            </ns1:pPr>
            <ns1:r>
              <ns1:rPr lang="en-US" sz="1200" b="1" u="none" strike="noStrike">
                <ns1:solidFill>
                  <ns1:srgbClr val="0F172A"/>
                </ns1:solidFill>
                <ns1:effectLst/>
                <ns1:uFillTx/>
                <ns1:latin typeface="Calibri"/>
                <ns1:ea typeface="DejaVu Sans"/>
              </ns1:rPr>
              <ns1:t>Most congested Asian cities</ns1:t>
            </ns1:r>
            <ns1:endParaRPr lang="en-IN" sz="12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400"/>
              </ns1:spcBef>
            </ns1:pPr>
            <ns1:r>
              <ns1:rPr lang="en-US" sz="1050" b="0" u="none" strike="noStrike">
                <ns1:solidFill>
                  <ns1:srgbClr val="475569"/>
                </ns1:solidFill>
                <ns1:effectLst/>
                <ns1:uFillTx/>
                <ns1:latin typeface="Calibri"/>
                <ns1:ea typeface="DejaVu Sans"/>
              </ns1:rPr>
              <ns1:t>are in India: Bengaluru (#1), Pune (#2), Mumbai (#6), Delhi (#7), Kolkata (#9), Jaipur (#10)</ns1:t>
            </ns1:r>
            <ns1:endParaRPr lang="en-IN" sz="105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</ns0:txBody>
      </ns0:sp>
      <ns0:sp>
        <ns0:nvSpPr>
          <ns0:cNvPr id="119" name="Rounded Rectangle 13"/>
          <ns0:cNvSpPr/>
          <ns0:nvPr/>
        </ns0:nvSpPr>
        <ns0:spPr>
          <ns1:xfrm>
            <ns1:off x="600120" y="3650040"/>
            <ns1:ext cx="10999440" cy="2299320"/>
          </ns1:xfrm>
          <ns1:prstGeom prst="roundRect">
            <ns1:avLst>
              <ns1:gd name="adj" fmla="val 16667"/>
            </ns1:avLst>
          </ns1:prstGeom>
          <ns1:solidFill>
            <ns1:srgbClr val="FFFFFF"/>
          </ns1:solidFill>
          <ns1:ln w="12600">
            <ns1:solidFill>
              <ns1:srgbClr val="E2E8F0"/>
            </ns1:solidFill>
            <ns1:round/>
          </ns1:ln>
          <ns1:effectLst>
            <ns1:outerShdw blurRad="39960" dir="5400000" dist="23040" rotWithShape="0">
              <ns1:srgbClr val="000000">
                <ns1:alpha val="35000"/>
              </ns1:srgbClr>
            </ns1:outerShdw>
          </ns1:effectLst>
        </ns0:spPr>
        <ns0:style>
          <ns1:lnRef idx="0"/>
          <ns1:fillRef idx="0"/>
          <ns1:effectRef idx="0"/>
          <ns1:fontRef idx="minor"/>
        </ns0:style>
        <ns0:txBody>
          <ns1:bodyPr lIns="90000" tIns="45000" rIns="90000" bIns="45000" anchor="ctr">
            <ns1:noAutofit/>
          </ns1:bodyPr>
          <ns1:p>
            <ns1:endParaRPr lang="en-US" sz="1800" b="0" u="none" strike="noStrike">
              <ns1:solidFill>
                <ns1:schemeClr val="lt1"/>
              </ns1:solidFill>
              <ns1:effectLst/>
              <ns1:uFillTx/>
              <ns1:latin typeface="Calibri"/>
            </ns1:endParaRPr>
          </ns1:p>
        </ns0:txBody>
      </ns0:sp>
      <ns0:sp>
        <ns0:nvSpPr>
          <ns0:cNvPr id="120" name="Rectangle 14"/>
          <ns0:cNvSpPr/>
          <ns0:nvPr/>
        </ns0:nvSpPr>
        <ns0:spPr>
          <ns1:xfrm>
            <ns1:off x="600120" y="3650040"/>
            <ns1:ext cx="10999440" cy="44280"/>
          </ns1:xfrm>
          <ns1:prstGeom prst="rect">
            <ns1:avLst/>
          </ns1:prstGeom>
          <ns1:solidFill>
            <ns1:srgbClr val="1E3A8A"/>
          </ns1:solidFill>
          <ns1:ln w="9360">
            <ns1:noFill/>
          </ns1:ln>
          <ns1:effectLst>
            <ns1:outerShdw blurRad="39960" dir="5400000" dist="23040" rotWithShape="0">
              <ns1:srgbClr val="000000">
                <ns1:alpha val="35000"/>
              </ns1:srgbClr>
            </ns1:outerShdw>
          </ns1:effectLst>
        </ns0:spPr>
        <ns0:style>
          <ns1:lnRef idx="0"/>
          <ns1:fillRef idx="0"/>
          <ns1:effectRef idx="0"/>
          <ns1:fontRef idx="minor"/>
        </ns0:style>
        <ns0:txBody>
          <ns1:bodyPr lIns="90000" tIns="0" rIns="90000" bIns="0" anchor="ctr">
            <ns1:noAutofit/>
          </ns1:bodyPr>
          <ns1:p>
            <ns1:endParaRPr lang="en-US" sz="1800" b="0" u="none" strike="noStrike">
              <ns1:solidFill>
                <ns1:schemeClr val="lt1"/>
              </ns1:solidFill>
              <ns1:effectLst/>
              <ns1:uFillTx/>
              <ns1:latin typeface="Calibri"/>
            </ns1:endParaRPr>
          </ns1:p>
        </ns0:txBody>
      </ns0:sp>
      <ns0:sp>
        <ns0:nvSpPr>
          <ns0:cNvPr id="121" name="TextBox 15"/>
          <ns0:cNvSpPr/>
          <ns0:nvPr/>
        </ns0:nvSpPr>
        <ns0:spPr>
          <ns1:xfrm>
            <ns1:off x="849960" y="3800160"/>
            <ns1:ext cx="10499400" cy="11548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0" tIns="0" rIns="0" bIns="0" anchor="t">
            <ns1:spAutoFit/>
          </ns1:bodyPr>
          <ns1:p>
            <ns1:pPr defTabSz="457200">
              <ns1:lnSpc>
                <ns1:spcPct val="100000"/>
              </ns1:lnSpc>
            </ns1:pPr>
            <ns1:r>
              <ns1:rPr lang="en-US" sz="1000" b="1" u="none" strike="noStrike">
                <ns1:solidFill>
                  <ns1:srgbClr val="1E3A8A"/>
                </ns1:solidFill>
                <ns1:effectLst/>
                <ns1:uFillTx/>
                <ns1:latin typeface="Calibri"/>
                <ns1:ea typeface="DejaVu Sans"/>
              </ns1:rPr>
              <ns1:t>CORE SYSTEMIC CHALLENGES IN INDIAN CITIES</ns1:t>
            </ns1:r>
            <ns1:endParaRPr lang="en-IN" sz="10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201"/>
              </ns1:spcBef>
              <ns1:spcAft>
                <ns1:spcPts val="601"/>
              </ns1:spcAft>
            </ns1:pPr>
            <ns1:r>
              <ns1:rPr lang="en-US" sz="1100" b="1" u="none" strike="noStrike">
                <ns1:solidFill>
                  <ns1:srgbClr val="0F172A"/>
                </ns1:solidFill>
                <ns1:effectLst/>
                <ns1:uFillTx/>
                <ns1:latin typeface="Calibri"/>
                <ns1:ea typeface="DejaVu Sans"/>
              </ns1:rPr>
              <ns1:t>• Static Signal Timings — </ns1:t>
            </ns1:r>
            <ns1:r>
              <ns1:rPr lang="en-US" sz="1100" b="0" u="none" strike="noStrike">
                <ns1:solidFill>
                  <ns1:srgbClr val="475569"/>
                </ns1:solidFill>
                <ns1:effectLst/>
                <ns1:uFillTx/>
                <ns1:latin typeface="Calibri"/>
                <ns1:ea typeface="DejaVu Sans"/>
              </ns1:rPr>
              <ns1:t>Traffic lights run on rigid pre-programmed cycles, ignoring dynamic Passenger Car Unit (PCU) lane demands.</ns1:t>
            </ns1:r>
            <ns1:endParaRPr lang="en-IN" sz="11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201"/>
              </ns1:spcBef>
              <ns1:spcAft>
                <ns1:spcPts val="601"/>
              </ns1:spcAft>
            </ns1:pPr>
            <ns1:r>
              <ns1:rPr lang="en-US" sz="1100" b="1" u="none" strike="noStrike">
                <ns1:solidFill>
                  <ns1:srgbClr val="0F172A"/>
                </ns1:solidFill>
                <ns1:effectLst/>
                <ns1:uFillTx/>
                <ns1:latin typeface="Calibri"/>
                <ns1:ea typeface="DejaVu Sans"/>
              </ns1:rPr>
              <ns1:t>• Fragmented Data Silos — </ns1:t>
            </ns1:r>
            <ns1:r>
              <ns1:rPr lang="en-US" sz="1100" b="0" u="none" strike="noStrike">
                <ns1:solidFill>
                  <ns1:srgbClr val="475569"/>
                </ns1:solidFill>
                <ns1:effectLst/>
                <ns1:uFillTx/>
                <ns1:latin typeface="Calibri"/>
                <ns1:ea typeface="DejaVu Sans"/>
              </ns1:rPr>
              <ns1:t>Traffic police lack unified corridor visibility, causing manual bottleneck escalations and upstream spillbacks.</ns1:t>
            </ns1:r>
            <ns1:endParaRPr lang="en-IN" sz="11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201"/>
              </ns1:spcBef>
              <ns1:spcAft>
                <ns1:spcPts val="601"/>
              </ns1:spcAft>
            </ns1:pPr>
            <ns1:r>
              <ns1:rPr lang="en-US" sz="1100" b="1" u="none" strike="noStrike">
                <ns1:solidFill>
                  <ns1:srgbClr val="0F172A"/>
                </ns1:solidFill>
                <ns1:effectLst/>
                <ns1:uFillTx/>
                <ns1:latin typeface="Calibri"/>
                <ns1:ea typeface="DejaVu Sans"/>
              </ns1:rPr>
              <ns1:t>• Lagged Post-Facto Rerouting — </ns1:t>
            </ns1:r>
            <ns1:r>
              <ns1:rPr lang="en-US" sz="1100" b="0" u="none" strike="noStrike">
                <ns1:solidFill>
                  <ns1:srgbClr val="475569"/>
                </ns1:solidFill>
                <ns1:effectLst/>
                <ns1:uFillTx/>
                <ns1:latin typeface="Calibri"/>
                <ns1:ea typeface="DejaVu Sans"/>
              </ns1:rPr>
              <ns1:t>Navigation apps only redirect drivers after jams form, exacerbating secondary arterial gridlocks.</ns1:t>
            </ns1:r>
            <ns1:endParaRPr lang="en-IN" sz="11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  <ns1:p>
            <ns1:pPr defTabSz="457200">
              <ns1:lnSpc>
                <ns1:spcPct val="100000"/>
              </ns1:lnSpc>
              <ns1:spcBef>
                <ns1:spcPts val="201"/>
              </ns1:spcBef>
              <ns1:spcAft>
                <ns1:spcPts val="601"/>
              </ns1:spcAft>
            </ns1:pPr>
            <ns1:r>
              <ns1:rPr lang="en-US" sz="1100" b="1" u="none" strike="noStrike">
                <ns1:solidFill>
                  <ns1:srgbClr val="0F172A"/>
                </ns1:solidFill>
                <ns1:effectLst/>
                <ns1:uFillTx/>
                <ns1:latin typeface="Calibri"/>
                <ns1:ea typeface="DejaVu Sans"/>
              </ns1:rPr>
              <ns1:t>• High Fuel Wastage &amp; Emissions — </ns1:t>
            </ns1:r>
            <ns1:r>
              <ns1:rPr lang="en-US" sz="1100" b="0" u="none" strike="noStrike">
                <ns1:solidFill>
                  <ns1:srgbClr val="475569"/>
                </ns1:solidFill>
                <ns1:effectLst/>
                <ns1:uFillTx/>
                <ns1:latin typeface="Calibri"/>
                <ns1:ea typeface="DejaVu Sans"/>
              </ns1:rPr>
              <ns1:t>Repeated idle-stop-and-go cycles waste 2B annually and drastically worsen urban PM2.5/NOx pollution.</ns1:t>
            </ns1:r>
            <ns1:endParaRPr lang="en-IN" sz="1100" b="0" u="none" strike="noStrike">
              <ns1:solidFill>
                <ns1:srgbClr val="000000"/>
              </ns1:solidFill>
              <ns1:effectLst/>
              <ns1:uFillTx/>
              <ns1:latin typeface="Arial"/>
            </ns1:endParaRPr>
          </ns1:p>
        </ns0:txBody>
      </ns0:sp>
    </ns0:spTree>
  </ns0:cSld>
  <ns2:AlternateContent>
    <ns2:Choice Requires="p14">
      <ns0:transition spd="slow" ns3:dur="2000"/>
    </ns2:Choice>
    <ns2:Fallback>
      <ns0:transition spd="slow"/>
    </ns2:Fallback>
  </ns2:AlternateContent>
</ns0:sld>
</file>

<file path=ppt/slides/slide4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SYSTEM ARCHITECTURE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Proposed Solution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 unified, closed-loop AI platform that senses, predicts, acts, and governs city traffic in real time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4"/>
          <p:cNvSpPr/>
          <p:nvPr/>
        </p:nvSpPr>
        <p:spPr>
          <a:xfrm>
            <a:off x="600120" y="1550160"/>
            <a:ext cx="2599200" cy="35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5"/>
          <p:cNvSpPr/>
          <p:nvPr/>
        </p:nvSpPr>
        <p:spPr>
          <a:xfrm>
            <a:off x="600120" y="1550160"/>
            <a:ext cx="259920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6"/>
          <p:cNvSpPr/>
          <p:nvPr/>
        </p:nvSpPr>
        <p:spPr>
          <a:xfrm>
            <a:off x="780120" y="1730160"/>
            <a:ext cx="749160" cy="31932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1073880" y="1760040"/>
            <a:ext cx="161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01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780120" y="2149920"/>
            <a:ext cx="2239200" cy="17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SENSE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Edge Vision &amp; IoT Sensing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Multi-camera RTSP feeds processed via TensorRT-accelerated YOLOv8 (IDD trained); extracts real-time PCU vehicle density and queue length over MQTT.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9"/>
          <p:cNvSpPr/>
          <p:nvPr/>
        </p:nvSpPr>
        <p:spPr>
          <a:xfrm>
            <a:off x="3399840" y="1550160"/>
            <a:ext cx="2599200" cy="35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10"/>
          <p:cNvSpPr/>
          <p:nvPr/>
        </p:nvSpPr>
        <p:spPr>
          <a:xfrm>
            <a:off x="3399840" y="1550160"/>
            <a:ext cx="259920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ounded Rectangle 11"/>
          <p:cNvSpPr/>
          <p:nvPr/>
        </p:nvSpPr>
        <p:spPr>
          <a:xfrm>
            <a:off x="3579840" y="1730160"/>
            <a:ext cx="749160" cy="31932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600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2"/>
          <p:cNvSpPr/>
          <p:nvPr/>
        </p:nvSpPr>
        <p:spPr>
          <a:xfrm>
            <a:off x="3873600" y="1760040"/>
            <a:ext cx="161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02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3"/>
          <p:cNvSpPr/>
          <p:nvPr/>
        </p:nvSpPr>
        <p:spPr>
          <a:xfrm>
            <a:off x="3579840" y="2149920"/>
            <a:ext cx="2239200" cy="153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PREDICT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Predictive Traffic AI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Spatial-temporal deep learning (LSTM + XGBoost) forecasts corridor bottlenecks 15–60 min in advance, detecting gridlocks before queue spillbacks form.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4"/>
          <p:cNvSpPr/>
          <p:nvPr/>
        </p:nvSpPr>
        <p:spPr>
          <a:xfrm>
            <a:off x="6199920" y="1550160"/>
            <a:ext cx="2599200" cy="35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5"/>
          <p:cNvSpPr/>
          <p:nvPr/>
        </p:nvSpPr>
        <p:spPr>
          <a:xfrm>
            <a:off x="6199920" y="1550160"/>
            <a:ext cx="2599200" cy="5436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ounded Rectangle 16"/>
          <p:cNvSpPr/>
          <p:nvPr/>
        </p:nvSpPr>
        <p:spPr>
          <a:xfrm>
            <a:off x="6379920" y="1730160"/>
            <a:ext cx="749160" cy="31932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600">
            <a:solidFill>
              <a:srgbClr val="D9770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7"/>
          <p:cNvSpPr/>
          <p:nvPr/>
        </p:nvSpPr>
        <p:spPr>
          <a:xfrm>
            <a:off x="6673680" y="1760040"/>
            <a:ext cx="161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03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8"/>
          <p:cNvSpPr/>
          <p:nvPr/>
        </p:nvSpPr>
        <p:spPr>
          <a:xfrm>
            <a:off x="6379920" y="2149920"/>
            <a:ext cx="2239200" cy="17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ACT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Dynamic Signal &amp; Rerouting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Multi-Agent Reinforcement Learning (MARL) adapts green splits dynamically; routing engine pushes pre-emptive navigation guidance to commuters.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9"/>
          <p:cNvSpPr/>
          <p:nvPr/>
        </p:nvSpPr>
        <p:spPr>
          <a:xfrm>
            <a:off x="9000000" y="1550160"/>
            <a:ext cx="2599200" cy="35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20"/>
          <p:cNvSpPr/>
          <p:nvPr/>
        </p:nvSpPr>
        <p:spPr>
          <a:xfrm>
            <a:off x="9000000" y="1550160"/>
            <a:ext cx="2599200" cy="5436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ounded Rectangle 21"/>
          <p:cNvSpPr/>
          <p:nvPr/>
        </p:nvSpPr>
        <p:spPr>
          <a:xfrm>
            <a:off x="9180000" y="1730160"/>
            <a:ext cx="749160" cy="319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600">
            <a:solidFill>
              <a:srgbClr val="1E3A8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2"/>
          <p:cNvSpPr/>
          <p:nvPr/>
        </p:nvSpPr>
        <p:spPr>
          <a:xfrm>
            <a:off x="9473760" y="1760040"/>
            <a:ext cx="161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04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3"/>
          <p:cNvSpPr/>
          <p:nvPr/>
        </p:nvSpPr>
        <p:spPr>
          <a:xfrm>
            <a:off x="9180000" y="2149920"/>
            <a:ext cx="2239200" cy="17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GOVERN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Central Command &amp; Control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Unified cloud ITMS dashboard provides traffic police with real-time GIS situational awareness, green corridors for ambulances, and anomaly alerts.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24"/>
          <p:cNvSpPr/>
          <p:nvPr/>
        </p:nvSpPr>
        <p:spPr>
          <a:xfrm>
            <a:off x="600120" y="5349960"/>
            <a:ext cx="10999440" cy="59940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5"/>
          <p:cNvSpPr/>
          <p:nvPr/>
        </p:nvSpPr>
        <p:spPr>
          <a:xfrm>
            <a:off x="799920" y="5450040"/>
            <a:ext cx="8915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⚡ Closed-Loop Feedback: </a:t>
            </a:r>
            <a:r>
              <a:rPr lang="en-US" sz="11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SUMO-validated closed loop synchronizes adaptive signal timing with predictive commuter rerouting.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ns2:AlternateContent>
    <ns2:Choice Requires="p14">
      <p:transition spd="slow" ns3:dur="2000"/>
    </ns2:Choice>
    <ns2:Fallback>
      <p:transition spd="slow"/>
    </ns2:Fallback>
  </ns2:AlternateContent>
</p:sld>
</file>

<file path=ppt/slides/slide5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KEY DIFFERENTIATORS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Innovation Component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What makes our solution novel, defensible, and uniquely effective for emerging smart cities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4"/>
          <p:cNvSpPr/>
          <p:nvPr/>
        </p:nvSpPr>
        <p:spPr>
          <a:xfrm>
            <a:off x="600120" y="1550160"/>
            <a:ext cx="5349240" cy="199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5"/>
          <p:cNvSpPr/>
          <p:nvPr/>
        </p:nvSpPr>
        <p:spPr>
          <a:xfrm>
            <a:off x="600120" y="1550160"/>
            <a:ext cx="54360" cy="199944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799920" y="1730160"/>
            <a:ext cx="499932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DUAL-ACTION OPTIMIZATION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Unifying Authority &amp; Commuter Loops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While existing solutions only redirect drivers (Google Maps) or manage isolated signals, our platform optimizes signals AND routes commuters synchronously in one cohesive ecosystem.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7"/>
          <p:cNvSpPr/>
          <p:nvPr/>
        </p:nvSpPr>
        <p:spPr>
          <a:xfrm>
            <a:off x="6249960" y="1550160"/>
            <a:ext cx="5349240" cy="199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8"/>
          <p:cNvSpPr/>
          <p:nvPr/>
        </p:nvSpPr>
        <p:spPr>
          <a:xfrm>
            <a:off x="6249960" y="1550160"/>
            <a:ext cx="54360" cy="199944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6450120" y="1730160"/>
            <a:ext cx="499932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HETEROGENEOUS TRAFFIC ADAPTATION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IRC:106 PCU-Calibrated Vision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Trained on Indian Driving Dataset (IDD) to compute dynamic PCU loads (Auto=1.0, 2W=0.5, Bus=3.0 PCU) under non-lane, high-density Indian traffic.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0"/>
          <p:cNvSpPr/>
          <p:nvPr/>
        </p:nvSpPr>
        <p:spPr>
          <a:xfrm>
            <a:off x="600120" y="3750120"/>
            <a:ext cx="5349240" cy="199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11"/>
          <p:cNvSpPr/>
          <p:nvPr/>
        </p:nvSpPr>
        <p:spPr>
          <a:xfrm>
            <a:off x="600120" y="3750120"/>
            <a:ext cx="54360" cy="199944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799920" y="3930120"/>
            <a:ext cx="499932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PRE-EMPTIVE FORECASTING (15-60 MIN)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LSTM + XGBoost Hybrid Models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Instead of reacting after bottlenecks occur, time-series forecasting predicts corridor load spikes 15–60 minutes ahead, dynamically re-allocating green times proactively.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3"/>
          <p:cNvSpPr/>
          <p:nvPr/>
        </p:nvSpPr>
        <p:spPr>
          <a:xfrm>
            <a:off x="6249960" y="3750120"/>
            <a:ext cx="5349240" cy="199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14"/>
          <p:cNvSpPr/>
          <p:nvPr/>
        </p:nvSpPr>
        <p:spPr>
          <a:xfrm>
            <a:off x="6249960" y="3750120"/>
            <a:ext cx="54360" cy="199944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5"/>
          <p:cNvSpPr/>
          <p:nvPr/>
        </p:nvSpPr>
        <p:spPr>
          <a:xfrm>
            <a:off x="6450120" y="3930120"/>
            <a:ext cx="499932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EDGE-TO-CLOUD DISTRIBUTED AI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Low Latency &amp; Scalability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Edge nodes (Jetson / Pi 5) execute 30+ FPS TensorRT inference locally, streaming lightweight MQTT payloads (&lt;2 KB/s) for 99% cloud bandwidth savings.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6"/>
          <p:cNvSpPr/>
          <p:nvPr/>
        </p:nvSpPr>
        <p:spPr>
          <a:xfrm>
            <a:off x="600120" y="5749920"/>
            <a:ext cx="10999440" cy="44928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600">
            <a:solidFill>
              <a:srgbClr val="A7F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799920" y="5799960"/>
            <a:ext cx="97671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🎯 SOTA Benchmark &amp; Validation: </a:t>
            </a:r>
            <a:r>
              <a:rPr lang="en-US" sz="105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Outperforms static Webster timers and high-cost SCATS/SCOOT systems, validated in Eclipse SUMO micro-simulator.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ns2:AlternateContent>
    <ns2:Choice Requires="p14">
      <p:transition spd="slow" ns3:dur="2000"/>
    </ns2:Choice>
    <ns2:Fallback>
      <p:transition spd="slow"/>
    </ns2:Fallback>
  </ns2:AlternateContent>
</p:sld>
</file>

<file path=ppt/slides/slide6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ARCHITECTURE &amp; TOOLS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Technology Stack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Robust multi-tier tech stack engineered for rapid prototype development and scalable city deployment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4"/>
          <p:cNvSpPr/>
          <p:nvPr/>
        </p:nvSpPr>
        <p:spPr>
          <a:xfrm>
            <a:off x="60012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600120" y="155016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759960" y="1710000"/>
            <a:ext cx="2279160" cy="6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IoT &amp; Edge Layer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RTSP CCTV, ANPR, Jetson Orin / Raspberry Pi 5, TensorRT FP16, MQTT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7"/>
          <p:cNvSpPr/>
          <p:nvPr/>
        </p:nvSpPr>
        <p:spPr>
          <a:xfrm>
            <a:off x="339984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8"/>
          <p:cNvSpPr/>
          <p:nvPr/>
        </p:nvSpPr>
        <p:spPr>
          <a:xfrm>
            <a:off x="3399840" y="1550160"/>
            <a:ext cx="259920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3560040" y="1710000"/>
            <a:ext cx="2279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Traffic Simulation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Eclipse SUMO (Micro-simulation), TraCI Python API, OpenStreetMap GIS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0"/>
          <p:cNvSpPr/>
          <p:nvPr/>
        </p:nvSpPr>
        <p:spPr>
          <a:xfrm>
            <a:off x="619992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11"/>
          <p:cNvSpPr/>
          <p:nvPr/>
        </p:nvSpPr>
        <p:spPr>
          <a:xfrm>
            <a:off x="6199920" y="1550160"/>
            <a:ext cx="259920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6360120" y="1710000"/>
            <a:ext cx="2279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Backend Services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Python (FastAPI), Node.js Microservices, Docker, Kubernetes containerization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13"/>
          <p:cNvSpPr/>
          <p:nvPr/>
        </p:nvSpPr>
        <p:spPr>
          <a:xfrm>
            <a:off x="900000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14"/>
          <p:cNvSpPr/>
          <p:nvPr/>
        </p:nvSpPr>
        <p:spPr>
          <a:xfrm>
            <a:off x="9000000" y="155016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9159840" y="1710000"/>
            <a:ext cx="2279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AI &amp; Multi-Agent RL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YOLOv8 (Vision), PyTorch MARL (DQN/PPO), LSTM + XGBoost, Eclipse SUMO / TraCI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16"/>
          <p:cNvSpPr/>
          <p:nvPr/>
        </p:nvSpPr>
        <p:spPr>
          <a:xfrm>
            <a:off x="600120" y="365004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17"/>
          <p:cNvSpPr/>
          <p:nvPr/>
        </p:nvSpPr>
        <p:spPr>
          <a:xfrm>
            <a:off x="600120" y="3650040"/>
            <a:ext cx="2599200" cy="44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759960" y="3809880"/>
            <a:ext cx="2279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Databases &amp; Storage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PostgreSQL + PostGIS (Spatial), TimescaleDB (Time-series), Redis (In-memory cache)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19"/>
          <p:cNvSpPr/>
          <p:nvPr/>
        </p:nvSpPr>
        <p:spPr>
          <a:xfrm>
            <a:off x="3399840" y="365004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20"/>
          <p:cNvSpPr/>
          <p:nvPr/>
        </p:nvSpPr>
        <p:spPr>
          <a:xfrm>
            <a:off x="3399840" y="3650040"/>
            <a:ext cx="259920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3560040" y="3809880"/>
            <a:ext cx="2279160" cy="6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Cloud &amp; DevOps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AWS IoT Core, Azure Cloud, AWS S3, GitHub Actions CI/CD automation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22"/>
          <p:cNvSpPr/>
          <p:nvPr/>
        </p:nvSpPr>
        <p:spPr>
          <a:xfrm>
            <a:off x="6199920" y="365004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23"/>
          <p:cNvSpPr/>
          <p:nvPr/>
        </p:nvSpPr>
        <p:spPr>
          <a:xfrm>
            <a:off x="6199920" y="3650040"/>
            <a:ext cx="259920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6360120" y="3809880"/>
            <a:ext cx="2279160" cy="6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Authority Dashboard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React.js, Mapbox GL / Google Maps API, Recharts, WebSocket telemetry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25"/>
          <p:cNvSpPr/>
          <p:nvPr/>
        </p:nvSpPr>
        <p:spPr>
          <a:xfrm>
            <a:off x="9000000" y="365004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26"/>
          <p:cNvSpPr/>
          <p:nvPr/>
        </p:nvSpPr>
        <p:spPr>
          <a:xfrm>
            <a:off x="9000000" y="365004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9159840" y="3809880"/>
            <a:ext cx="2279160" cy="6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Commuter Mobile App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React Native / Flutter, real-time push alerts, offline vector maps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28"/>
          <p:cNvSpPr/>
          <p:nvPr/>
        </p:nvSpPr>
        <p:spPr>
          <a:xfrm>
            <a:off x="600120" y="5649840"/>
            <a:ext cx="10999440" cy="5493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9"/>
          <p:cNvSpPr/>
          <p:nvPr/>
        </p:nvSpPr>
        <p:spPr>
          <a:xfrm>
            <a:off x="799920" y="5730120"/>
            <a:ext cx="96476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⚙️ Design Principle: </a:t>
            </a:r>
            <a:r>
              <a:rPr lang="en-US" sz="105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Sub-second telemetry latency (&lt;250ms), modular sensor ingestion, and local failsafe Webster cycle fallback mode.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ns2:AlternateContent>
    <ns2:Choice Requires="p14">
      <p:transition spd="slow" ns3:dur="2000"/>
    </ns2:Choice>
    <ns2:Fallback>
      <p:transition spd="slow"/>
    </ns2:Fallback>
  </ns2:AlternateContent>
</p:sld>
</file>

<file path=ppt/slides/slide7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METRICS &amp; PERFORMANCE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Expected Outcome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Quantifiable impact and measurable performance enhancements across city transportation networks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4"/>
          <p:cNvSpPr/>
          <p:nvPr/>
        </p:nvSpPr>
        <p:spPr>
          <a:xfrm>
            <a:off x="60012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5"/>
          <p:cNvSpPr/>
          <p:nvPr/>
        </p:nvSpPr>
        <p:spPr>
          <a:xfrm>
            <a:off x="600120" y="1550160"/>
            <a:ext cx="259920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6"/>
          <p:cNvSpPr/>
          <p:nvPr/>
        </p:nvSpPr>
        <p:spPr>
          <a:xfrm>
            <a:off x="759960" y="1710000"/>
            <a:ext cx="22791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25% - 35%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Commute Delay Reduction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-30 to 45s vehicle wait time reduction at junctions via dynamic green-light allocation.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7"/>
          <p:cNvSpPr/>
          <p:nvPr/>
        </p:nvSpPr>
        <p:spPr>
          <a:xfrm>
            <a:off x="339984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8"/>
          <p:cNvSpPr/>
          <p:nvPr/>
        </p:nvSpPr>
        <p:spPr>
          <a:xfrm>
            <a:off x="3399840" y="155016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3560040" y="1710000"/>
            <a:ext cx="22791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15 - 60 min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Early Warning Window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Predictive models detect congestion buildup early enough to divert traffic proactively.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0"/>
          <p:cNvSpPr/>
          <p:nvPr/>
        </p:nvSpPr>
        <p:spPr>
          <a:xfrm>
            <a:off x="619992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11"/>
          <p:cNvSpPr/>
          <p:nvPr/>
        </p:nvSpPr>
        <p:spPr>
          <a:xfrm>
            <a:off x="6199920" y="1550160"/>
            <a:ext cx="2599200" cy="44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2"/>
          <p:cNvSpPr/>
          <p:nvPr/>
        </p:nvSpPr>
        <p:spPr>
          <a:xfrm>
            <a:off x="6360120" y="1710000"/>
            <a:ext cx="22791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18% - 22%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Fuel &amp; Emission Cuts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Smoother stop-and-go cycles directly decrease urban carbon footprint and fuel wastage.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3"/>
          <p:cNvSpPr/>
          <p:nvPr/>
        </p:nvSpPr>
        <p:spPr>
          <a:xfrm>
            <a:off x="900000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14"/>
          <p:cNvSpPr/>
          <p:nvPr/>
        </p:nvSpPr>
        <p:spPr>
          <a:xfrm>
            <a:off x="9000000" y="1550160"/>
            <a:ext cx="259920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9159840" y="1710000"/>
            <a:ext cx="22791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+25%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Corridor PCU Throughput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Increases junction capacity and shifts corridor flow from LOS 'E/F' to LOS 'C'.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6"/>
          <p:cNvSpPr/>
          <p:nvPr/>
        </p:nvSpPr>
        <p:spPr>
          <a:xfrm>
            <a:off x="600120" y="3650040"/>
            <a:ext cx="10999440" cy="2499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17"/>
          <p:cNvSpPr/>
          <p:nvPr/>
        </p:nvSpPr>
        <p:spPr>
          <a:xfrm>
            <a:off x="600120" y="3650040"/>
            <a:ext cx="1099944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8"/>
          <p:cNvSpPr/>
          <p:nvPr/>
        </p:nvSpPr>
        <p:spPr>
          <a:xfrm>
            <a:off x="849960" y="3800160"/>
            <a:ext cx="10499400" cy="18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KEY PROJECT DELIVERABLES &amp; VERIFIABLE RESULTS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Eclipse SUMO Simulation Sandbox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Full corridor simulation via TraCI demonstrating live YOLOv8 PCU vehicle counting and dynamic MARL phase switching.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Municipal ITMS Command Dashboard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Real-time WebGIS portal with corridor velocity heatmaps, incident alerts, and manual police override.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Mobile Commuter Companion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Responsive client offering predictive alternate routes and live congestion alerts 15–30 min before peak buildup.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Emergency Green-Wave Protocol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Automated signal pre-emption for ambulances reducing critical transit times by up to 50%.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ns2:AlternateContent>
    <ns2:Choice Requires="p14">
      <p:transition spd="slow" ns3:dur="2000"/>
    </ns2:Choice>
    <ns2:Fallback>
      <p:transition spd="slow"/>
    </ns2:Fallback>
  </ns2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VALUE CREATION &amp; SUSTAINABILITY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Social / Industrial Impact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Generating multi-dimensional value across citizens, municipal governance, logistics, and the environment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4"/>
          <p:cNvSpPr/>
          <p:nvPr/>
        </p:nvSpPr>
        <p:spPr>
          <a:xfrm>
            <a:off x="600120" y="1550160"/>
            <a:ext cx="5349240" cy="209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5"/>
          <p:cNvSpPr/>
          <p:nvPr/>
        </p:nvSpPr>
        <p:spPr>
          <a:xfrm>
            <a:off x="600120" y="1550160"/>
            <a:ext cx="534924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6"/>
          <p:cNvSpPr/>
          <p:nvPr/>
        </p:nvSpPr>
        <p:spPr>
          <a:xfrm>
            <a:off x="780120" y="1710000"/>
            <a:ext cx="49892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CITIZENS &amp; SOCIETY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Shorter Commutes &amp; Enhanced Road Safety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Saves millions of commuter hours, reducing stress and boosting daily urban quality of life.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Significantly decreases intersection collisions through disciplined automated phase transitions.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Ensures emergency ambulances reach medical centers without being trapped in gridlocks.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7"/>
          <p:cNvSpPr/>
          <p:nvPr/>
        </p:nvSpPr>
        <p:spPr>
          <a:xfrm>
            <a:off x="6249960" y="1550160"/>
            <a:ext cx="5349240" cy="209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8"/>
          <p:cNvSpPr/>
          <p:nvPr/>
        </p:nvSpPr>
        <p:spPr>
          <a:xfrm>
            <a:off x="6249960" y="1550160"/>
            <a:ext cx="534924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6429960" y="1710000"/>
            <a:ext cx="49892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INDUSTRIAL &amp; LOGISTICS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Commercial Fleet Efficiency &amp; Cost Savings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Reduces last-mile logistics transit unpredictability for e-commerce, quick-commerce, and trucking.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Cuts fleet idling fuel expenses by up to 20%, directly boosting supply chain operating margins.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Provides anonymized spatial mobility data to assist insurance underwriting and fleet route planning.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10"/>
          <p:cNvSpPr/>
          <p:nvPr/>
        </p:nvSpPr>
        <p:spPr>
          <a:xfrm>
            <a:off x="600120" y="3849840"/>
            <a:ext cx="5349240" cy="209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11"/>
          <p:cNvSpPr/>
          <p:nvPr/>
        </p:nvSpPr>
        <p:spPr>
          <a:xfrm>
            <a:off x="600120" y="3849840"/>
            <a:ext cx="5349240" cy="44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2"/>
          <p:cNvSpPr/>
          <p:nvPr/>
        </p:nvSpPr>
        <p:spPr>
          <a:xfrm>
            <a:off x="780120" y="4010040"/>
            <a:ext cx="49892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GOVERNMENT &amp; URBAN BODIES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B2G Smart Governance &amp; Policy Alignment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Directly aligns with Union Budget 2026 urban infrastructure and smart mobility risk-guarantee missions.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Offers empirical data for evidence-based infrastructure planning (flyovers, bypasses, public transit).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Enables municipal authorities to manage expanding city populations without massive physical road widenings.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13"/>
          <p:cNvSpPr/>
          <p:nvPr/>
        </p:nvSpPr>
        <p:spPr>
          <a:xfrm>
            <a:off x="6249960" y="3849840"/>
            <a:ext cx="5349240" cy="209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14"/>
          <p:cNvSpPr/>
          <p:nvPr/>
        </p:nvSpPr>
        <p:spPr>
          <a:xfrm>
            <a:off x="6249960" y="3849840"/>
            <a:ext cx="534924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5"/>
          <p:cNvSpPr/>
          <p:nvPr/>
        </p:nvSpPr>
        <p:spPr>
          <a:xfrm>
            <a:off x="6429960" y="4010040"/>
            <a:ext cx="49892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ENVIRONMENTAL HEALTH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Decarbonization &amp; Clean Urban Air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Mitigates toxic tailpipe idling emissions (NOx, CO, PM2.5) along high-density residential corridors.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Contributes tangibly towards national net-zero carbon goals and green city sustainability standards.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Creates data baselines to quantify carbon credit generation from urban traffic optimization.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6"/>
          <p:cNvSpPr/>
          <p:nvPr/>
        </p:nvSpPr>
        <p:spPr>
          <a:xfrm>
            <a:off x="600120" y="5850000"/>
            <a:ext cx="10999440" cy="3992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799920" y="5900040"/>
            <a:ext cx="9002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🌟 Sustainable Development Goals: </a:t>
            </a:r>
            <a:r>
              <a:rPr lang="en-US" sz="10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Directly contributes to UN SDG 9 (Industry &amp; Innovation), SDG 11 (Sustainable Cities), and SDG 13 (Climate Action).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STRATEGIC ROADMAP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Future Scope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Phased deployment strategy from hackathon MVP to city-scale intelligent infrastructure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4"/>
          <p:cNvSpPr/>
          <p:nvPr/>
        </p:nvSpPr>
        <p:spPr>
          <a:xfrm>
            <a:off x="600120" y="1550160"/>
            <a:ext cx="2599200" cy="2199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5"/>
          <p:cNvSpPr/>
          <p:nvPr/>
        </p:nvSpPr>
        <p:spPr>
          <a:xfrm>
            <a:off x="600120" y="1550160"/>
            <a:ext cx="259920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6"/>
          <p:cNvSpPr/>
          <p:nvPr/>
        </p:nvSpPr>
        <p:spPr>
          <a:xfrm>
            <a:off x="780120" y="1730160"/>
            <a:ext cx="223920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PHASE 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Hackathon MVP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Eclipse SUMO Micro-Simulation + YOLOv8 Vision Pipeline + Baseline MARL Controller on Indian Driving Dataset.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7"/>
          <p:cNvSpPr/>
          <p:nvPr/>
        </p:nvSpPr>
        <p:spPr>
          <a:xfrm>
            <a:off x="3399840" y="1550160"/>
            <a:ext cx="2599200" cy="2199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8"/>
          <p:cNvSpPr/>
          <p:nvPr/>
        </p:nvSpPr>
        <p:spPr>
          <a:xfrm>
            <a:off x="3399840" y="1550160"/>
            <a:ext cx="259920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9"/>
          <p:cNvSpPr/>
          <p:nvPr/>
        </p:nvSpPr>
        <p:spPr>
          <a:xfrm>
            <a:off x="3579840" y="1730160"/>
            <a:ext cx="223920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PHASE 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Pilot Corridor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Edge deployment on 1 pilot municipal arterial junction with local traffic police partnership and IRC safety validation.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10"/>
          <p:cNvSpPr/>
          <p:nvPr/>
        </p:nvSpPr>
        <p:spPr>
          <a:xfrm>
            <a:off x="6199920" y="1550160"/>
            <a:ext cx="2599200" cy="2199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11"/>
          <p:cNvSpPr/>
          <p:nvPr/>
        </p:nvSpPr>
        <p:spPr>
          <a:xfrm>
            <a:off x="6199920" y="1550160"/>
            <a:ext cx="2599200" cy="5436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2"/>
          <p:cNvSpPr/>
          <p:nvPr/>
        </p:nvSpPr>
        <p:spPr>
          <a:xfrm>
            <a:off x="6379920" y="1730160"/>
            <a:ext cx="223920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PHASE 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Multi-City Scale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Multi-junction coordinated MARL network expansion across metro corridors + public Commuter Companion App release.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ounded Rectangle 13"/>
          <p:cNvSpPr/>
          <p:nvPr/>
        </p:nvSpPr>
        <p:spPr>
          <a:xfrm>
            <a:off x="9000000" y="1550160"/>
            <a:ext cx="2599200" cy="2199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ectangle 14"/>
          <p:cNvSpPr/>
          <p:nvPr/>
        </p:nvSpPr>
        <p:spPr>
          <a:xfrm>
            <a:off x="9000000" y="1550160"/>
            <a:ext cx="2599200" cy="5436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15"/>
          <p:cNvSpPr/>
          <p:nvPr/>
        </p:nvSpPr>
        <p:spPr>
          <a:xfrm>
            <a:off x="9180000" y="1730160"/>
            <a:ext cx="223920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PHASE 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V2X &amp; Autonomous Era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V2X (Vehicle-to-Infrastructure) communication, EV dynamic green routing, and smart city B2G/B2B data telemetry.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16"/>
          <p:cNvSpPr/>
          <p:nvPr/>
        </p:nvSpPr>
        <p:spPr>
          <a:xfrm>
            <a:off x="600120" y="3999960"/>
            <a:ext cx="10999440" cy="224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Rectangle 17"/>
          <p:cNvSpPr/>
          <p:nvPr/>
        </p:nvSpPr>
        <p:spPr>
          <a:xfrm>
            <a:off x="600120" y="3999960"/>
            <a:ext cx="1099944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8"/>
          <p:cNvSpPr/>
          <p:nvPr/>
        </p:nvSpPr>
        <p:spPr>
          <a:xfrm>
            <a:off x="849960" y="4200120"/>
            <a:ext cx="10499400" cy="9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Thank You!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Open for Questions &amp; Discussion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Team: Tech Geeks  |  Vikrant University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2026-08-23T15:51:05Z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